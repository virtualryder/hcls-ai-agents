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[00:30] Open with the thesis: everyone in life sciences is moving on AI, almost no one is governed. This suite is eight reference agents sharing ONE governed AWS control plane. For a CIO/CISO, the platform is the asset — the agents are interchangeable, regulated workloads on top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[00:55] The frame the whole suite answers. McKinsey: $60–110B/yr of value but only ~5% have realized it. FDA's Jan 2025 draft guidance signals the regulator now expects a credibility framework. The gap between adoption and governance IS the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[02:00] The shared platform — every agent inherits this. One control plane: CloudFront/WAF edge, Cognito federation, MCP authorization gateway (deny-by-default, short-lived scoped tokens), Bedrock + Guardrails in-VPC, HITL gate, S3 Object Lock + DynamoDB append-only audit, per-customer VPC + dedicated validated account. To the CISO: PHI never egresses after masking; least-privilege IAM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[02:30] Portfolio part 1 — land-first agents: Regulatory Writing (01), Pharmacovigilance (02), Clinical Trial Ops/TMF (03), Medical Affairs MSL (08). These are document- and case-centric, measurable, and prove the control plane. 02 ships a live path. Walk the cost-of-nothing column for the CFO.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[03:00] Portfolio part 2 — higher-governance agents: Site/Patient Matching (04), Quality/CAPA (05), Protocol Design (06), RWE/HEOR (07). These touch enrollment, reportability, study design, and evidence, so they carry mandatory human gates and de-identification. Sequence after the platform is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[03:30] The compliance spine is the reason a CISO, QA head, or general counsel signs off. Each regulation life-sciences buyers are inspected against maps to a concrete control already in the platform — not a policy promise. 21 CFR Part 11, GxP/ALCOA+, GVP/E2B, ICH E6(R3), HIPAA de-identification, and the FDA Jan-2025 AI guidance + NIST AI RMF.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[04:00] The maturity ladder is the honesty slide. We position every agent against four levels: Documented, Demonstrated, Deployable, Production-ready. The suite is Demonstrated + Deployable-by-design today — 452 automated tests pass with no API key. Production-readiness (CSV/CSA, live integration, pen-test) is the engagement, not a day-one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[04:30] Deployment is a repeatable six-stage path. The customer provides identity, network reachability, connectors, and approved content; the reference templates provide everything else. One CloudFormation master stack provisions connectors + dual MCP gateway + native/container agent in a new account in any Region. Per-customer isolation (dedicated validated account + VPC) is what regulated buyers require.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[05:00] Land-and-expand de-risks the buy. Land with the document- and case-centric agents (01/02/03/08) — they prove identity, the gateway, PHI masking, audit, and Guardrails. 02 ships a live path you can demo. Expand to reportability and design (05/06). Scale to the de-identified-RWD agents (04/07). Every phase reuses the same control plane — no re-architecting.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[05:30] The CFO summary slide. Eight cost-of-doing-nothing figures on one view. Be disciplined: several are modeled at a reference baseline (show the label), while 01 (delay NPV), 03 (Tufts day-of-delay), 05 (recall cost), and 06 (amendment cost) use direct published figures. None are guaranteed — they substitute the customer's own volumes.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[06:00] Close on the thesis restated: the agent isn't the product — the governed platform is. That's what a sponsor actually buys, and what its FDA/EMA inspector actually evaluates. Recommend landing with 01/02/03/08 to prove the control plane, then expanding at their own pace. Hand off to the quickstart and architecture references. Invite the architecture deep-dive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95528" y="2880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Agentic AI for Life Sciences — Built on AWS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3566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reference agents on one 21 CFR Part 11 / GxP-defensible platform — the agent isn't the product, the governance 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54864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·  Built on AWS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EVERYONE'S MOVING. FEW ARE GOVERNED.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workflow where a hallucinated number is a data-integrity defect, governance is the gap this platform closes.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3310128" cy="192024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944368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$60–110B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3767328"/>
            <a:ext cx="2807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/yr potential gen-AI value for pharma &amp; medical products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438912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 2023]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379976" y="2743200"/>
            <a:ext cx="3310128" cy="192024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944368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54296" y="3767328"/>
            <a:ext cx="2807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commercial life-sci firms have turned gen AI into real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54296" y="438912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McKinsey 2024]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982712" y="2743200"/>
            <a:ext cx="3310128" cy="192024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944368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257032" y="3767328"/>
            <a:ext cx="2807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draft guidance on AI in regulatory decision-making (7-step credibility)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57032" y="43891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FDA]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77240" y="5029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this platform is the governance layer that lets a sponsor adopt AI as fast as the market — and defend it to an FDA/EMA inspector.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· safety · clinical · quality · MSL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 · Argus · Medidata · QMS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corpus · RWD · dictionaries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(per-agent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worker + EventBridge/SQS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agents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DynamoDB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sign-in   2 SAML federation (MFA at IdP; Cognito issues JWT — no credentials in AWS)   3 authenticated session   4 systems-of-record read over private connectivity   5 queue/scale for event-driven agents   6 model calls stay in-VPC via Bedrock + Guardrails endpoint (PHI masked first)   7 every action persisted to append-only audit (21 CFR Part 11)   8 tools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8-Agent Portfolio  —  Land-first (document- &amp; case-centric)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528523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143000"/>
            <a:ext cx="64008" cy="2331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81912" y="1307592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Writing &amp; Intelligence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92024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and assemble submission content from grounded evidence — a qualified human signs off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251460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$2.6B — average capitalized cost per approved drug — the value behind every submission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301752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doing nothing:  </a:t>
            </a:r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~$60M / month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9944" y="1143000"/>
            <a:ext cx="528523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9944" y="1143000"/>
            <a:ext cx="64008" cy="2331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65976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78624" y="1307592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Pharmacovigilance — ICSR Case Intake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84264" y="192024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de-duplicate, MedDRA-code, and draft E2B narratives — a safety physician validates the case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84264" y="251460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~28M — cumulative FAERS reports by end-2023; quarterly volume ~3× since 2007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84264" y="301752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doing nothing:  </a:t>
            </a:r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~$2.0M / yr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3840480"/>
            <a:ext cx="528523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840480"/>
            <a:ext cx="64008" cy="2331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81912" y="4005072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Ops &amp; TMF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61772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TMF gaps and EDC query backlog continuously — a CRA approves every disposition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7552" y="521208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~$800K / day — lost/delayed sales per day of trial delay (+ ~$40K/day direct cost)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" y="57150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doing nothing:  </a:t>
            </a:r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~$25.7M / slip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9944" y="3840480"/>
            <a:ext cx="528523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9944" y="3840480"/>
            <a:ext cx="64008" cy="2331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665976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78624" y="4005072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Affairs / MSL Copilot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84264" y="461772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on-label, evidence-grounded HCP responses — MLR review approves before anything ships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84264" y="521208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weeks→months — MLR review is the single biggest content-release bottleneck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84264" y="57150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doing nothing:  </a:t>
            </a:r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in FCA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8-Agent Portfolio  —  Higher-governance (sequence after)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528523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143000"/>
            <a:ext cx="64008" cy="2331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81912" y="1307592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Selection &amp; Patient Matching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92024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sites on real performance and size cohorts on RWD — humans select sites and confirm eligibility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251460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— of trials miss their original enrollment timeline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301752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doing nothing:  </a:t>
            </a:r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~$24M / launch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9944" y="1143000"/>
            <a:ext cx="528523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9944" y="1143000"/>
            <a:ext cx="64008" cy="2331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65976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78624" y="1307592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/ CAPA &amp; Complaints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84264" y="192024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root-cause and CAPA, score complaints — a quality owner approves classification and closure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84264" y="251460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cited — CAPA (21 CFR 820.100) is consistently the most-cited FDA device 483 clause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84264" y="301752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doing nothing:  </a:t>
            </a:r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$10M–$100M / recall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3840480"/>
            <a:ext cx="528523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840480"/>
            <a:ext cx="64008" cy="2331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81912" y="4005072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Protocol Design &amp; Feasibility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61772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protocol sections grounded in guidance and RWD — clinical leads own the design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7552" y="521208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~57% — of protocols incur ≥1 substantial amendment; ~45% avoidable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" y="57150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doing nothing:  </a:t>
            </a:r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~$535K / amendment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9944" y="3840480"/>
            <a:ext cx="528523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9944" y="3840480"/>
            <a:ext cx="64008" cy="2331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665976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78624" y="4005072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Evidence / HEOR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84264" y="461772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cohorts and translate code so analysts analyze — an epidemiologist approves the study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84264" y="521208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— of analyst time goes to data prep, not analysis (measured)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84264" y="57150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doing nothing:  </a:t>
            </a:r>
            <a:pPr algn="l" indent="0" marL="0">
              <a:buNone/>
            </a:pPr>
            <a:r>
              <a:rPr lang="en-US" sz="1100" b="1" dirty="0">
                <a:solidFill>
                  <a:srgbClr val="E8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~$1.3M / yr / team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Governance &amp; Compliance Spine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 inherits the same controls — mapped to the regulations life-sciences buyers are inspected against.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10771632" cy="4114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/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62272" y="1463040"/>
            <a:ext cx="688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control on the 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107716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874520"/>
            <a:ext cx="10973" cy="658368"/>
          </a:xfrm>
          <a:prstGeom prst="rect">
            <a:avLst/>
          </a:prstGeom>
          <a:solidFill>
            <a:srgbClr val="D5DBE1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18745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CFR Part 11 (records / e-sig)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9704" y="1874520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audit; bound reviewer identity on every gate; system validation posture; KMS CMK encryption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532888"/>
            <a:ext cx="10771632" cy="658368"/>
          </a:xfrm>
          <a:prstGeom prst="rect">
            <a:avLst/>
          </a:prstGeom>
          <a:solidFill>
            <a:srgbClr val="E9ECE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2532888"/>
            <a:ext cx="10973" cy="658368"/>
          </a:xfrm>
          <a:prstGeom prst="rect">
            <a:avLst/>
          </a:prstGeom>
          <a:solidFill>
            <a:srgbClr val="D5DBE1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253288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GxP / ALCOA+ (data integrity)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9704" y="2532888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verification; every figure traceable to source; prompt version pinning; tamper-evident lineage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191256"/>
            <a:ext cx="107716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3191256"/>
            <a:ext cx="10973" cy="658368"/>
          </a:xfrm>
          <a:prstGeom prst="rect">
            <a:avLst/>
          </a:prstGeom>
          <a:solidFill>
            <a:srgbClr val="D5DBE1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" y="319125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GVP / ICH E2B(R3) (safety)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9704" y="3191256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masked before model calls; safety-physician gate on causality &amp; reportability (Agent 02)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849624"/>
            <a:ext cx="10771632" cy="658368"/>
          </a:xfrm>
          <a:prstGeom prst="rect">
            <a:avLst/>
          </a:prstGeom>
          <a:solidFill>
            <a:srgbClr val="E9ECE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3849624"/>
            <a:ext cx="10973" cy="658368"/>
          </a:xfrm>
          <a:prstGeom prst="rect">
            <a:avLst/>
          </a:prstGeom>
          <a:solidFill>
            <a:srgbClr val="D5DBE1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" y="384962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E6(R3) GCP (trials)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9704" y="3849624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TMF completeness; CRA gate on dispositions; inspection-ready audit (Agent 03)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" y="4507992"/>
            <a:ext cx="107716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5112" y="4507992"/>
            <a:ext cx="10973" cy="658368"/>
          </a:xfrm>
          <a:prstGeom prst="rect">
            <a:avLst/>
          </a:prstGeom>
          <a:solidFill>
            <a:srgbClr val="D5DBE1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" y="450799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/ de-identification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9704" y="4507992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Harbor / Expert Determination enforced at the gateway for any RWD use (Agents 04/07)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" y="5166360"/>
            <a:ext cx="10771632" cy="658368"/>
          </a:xfrm>
          <a:prstGeom prst="rect">
            <a:avLst/>
          </a:prstGeom>
          <a:solidFill>
            <a:srgbClr val="E9ECE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25112" y="5166360"/>
            <a:ext cx="10973" cy="658368"/>
          </a:xfrm>
          <a:prstGeom prst="rect">
            <a:avLst/>
          </a:prstGeom>
          <a:solidFill>
            <a:srgbClr val="D5DBE1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" y="51663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AI guidance (Jan 2025) + NIST AI RMF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9704" y="5166360"/>
            <a:ext cx="6830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credibility framing; Guardrails, explainable grounded output, framework-enforced HITL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Maturity Ladder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Climb at the sponsor's own pace — each rung reuses the same governed control plane.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554480"/>
            <a:ext cx="2578608" cy="329184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Documented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560320"/>
            <a:ext cx="2167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workflow, and compliance design written and reviewed. Useful for discovery and architecture review.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56432" y="1554480"/>
            <a:ext cx="2578608" cy="3291840"/>
          </a:xfrm>
          <a:prstGeom prst="rect">
            <a:avLst/>
          </a:prstGeom>
          <a:solidFill>
            <a:srgbClr val="FF9900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7830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Demonstrated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75888" y="2560320"/>
            <a:ext cx="2167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end-to-end in demo mode (no API key, deterministic fixtures). Internal demos and customer workshops.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554480"/>
            <a:ext cx="2578608" cy="3291840"/>
          </a:xfrm>
          <a:prstGeom prst="rect">
            <a:avLst/>
          </a:prstGeom>
          <a:solidFill>
            <a:srgbClr val="E7157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7830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Deployable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2560320"/>
            <a:ext cx="2167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+ container contracts + CI pass; customer AWS account + Bedrock. Suitable for a pilot.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2832" y="1554480"/>
            <a:ext cx="2578608" cy="329184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178308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Production-ready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62288" y="2560320"/>
            <a:ext cx="2167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CSV/CSA complete, IdP integrated, connectors live, pen-test passed. The engagement milestone.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sits at Demonstrated + Deployable-by-design — 452 tests pass with no API key; production-readiness is the engagement.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— One Platform, Per-Customer Isolation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097280"/>
            <a:ext cx="52852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61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26464" y="124358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26464" y="1572768"/>
            <a:ext cx="4370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VPC + dedicated, validated AWS account; KMS CMK per data class; network to systems-of-record (PrivateLink / Direct Connect).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9944" y="1097280"/>
            <a:ext cx="52852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261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23176" y="124358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23176" y="1572768"/>
            <a:ext cx="4370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SAML→JWT federation with role scoping (writer / safety / CRA / quality / MSL / reviewer). No credentials stored in AWS.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" y="2560320"/>
            <a:ext cx="52852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724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26464" y="270662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26464" y="3035808"/>
            <a:ext cx="4370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WAF; ALB TLS 1.3; Cognito auth at the edge.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9944" y="2560320"/>
            <a:ext cx="52852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11112" y="2724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23176" y="270662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tools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23176" y="3035808"/>
            <a:ext cx="4370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AgentCore/Fargate agent; grant tools via the deny-by-default MCP gateway with short-lived scoped tokens.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4023360"/>
            <a:ext cx="52852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187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26464" y="416966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+ data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26464" y="4498848"/>
            <a:ext cx="4370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Veeva / Argus / Medidata / QMS connectors and Secrets Manager; index approved corpus; add per-agent blocks (EventBridge, Step Functions HITL).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9944" y="4023360"/>
            <a:ext cx="528523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11112" y="4187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23176" y="416966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+ go-live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23176" y="4498848"/>
            <a:ext cx="4370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(mandatory); S3 Object Lock + DynamoDB append-only audit; CloudTrail / Security Hub / Config; smoke + HITL test.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5486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docs/DEPLOY-QUICKSTART.md  ·  docs/DEPLOYMENT-HANDBOOK.md  ·  aws-native-reference/&lt;agent&gt;/DEPLOY.md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Land-and-Expand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governed control plane with document- and case-centric agents, then expand to higher-governance workloads on the same foundation.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554480"/>
            <a:ext cx="10771632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54480"/>
            <a:ext cx="1920240" cy="11430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544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34640" y="1719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Regulatory Writing · 02 Pharmacovigilance (live path) · 03 Trial Ops/TMF · 08 Medical Affairs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21579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 and case-centric, measurable. Proves identity, gateway, PHI masking, audit, and Guardrails in production.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2971800"/>
            <a:ext cx="10771632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971800"/>
            <a:ext cx="1920240" cy="1143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9718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31363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Quality/CAPA · 06 Protocol Design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34640" y="357530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reportability and design-ownership gates on the now-proven control plane.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" y="4389120"/>
            <a:ext cx="10771632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4389120"/>
            <a:ext cx="1920240" cy="1143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38912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34640" y="45537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Site/Patient Matching · 07 RWE/HEOR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834640" y="49926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Highest-governance: de-identified RWD, enforced at the gateway, with auditable lineage.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Suite-Level Cost of Inaction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1051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Per-agent cost of doing nothing, at a reference sponsor — substitute your own volumes.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3310128" cy="1078992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8249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Reg Writing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~$60M / month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79976" y="1554480"/>
            <a:ext cx="3310128" cy="1078992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168249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Pharmacovigilance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62856" y="205740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~$2.0M / yr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82712" y="1554480"/>
            <a:ext cx="3310128" cy="1078992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68249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Trial Ops / TMF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65592" y="205740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~$25.7M / slip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2889504"/>
            <a:ext cx="3310128" cy="1078992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175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Site / Patient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392424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~$24M / launch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79976" y="2889504"/>
            <a:ext cx="3310128" cy="1078992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2856" y="30175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Quality / CAPA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2856" y="3392424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$10M–$100M / recall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982712" y="2889504"/>
            <a:ext cx="3310128" cy="1078992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30175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Protocol 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65592" y="3392424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~$535K / amendment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77240" y="4224528"/>
            <a:ext cx="3310128" cy="1078992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35254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RWE / HEOR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72744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~$1.3M / yr / team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379976" y="4224528"/>
            <a:ext cx="3310128" cy="1078992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435254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Medical Affairs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62856" y="472744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in FCA risk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are modeled at a reference baseline (shown as such); 01/03/05/06 lean on direct published figures. None are guaranteed — they substitute the customer's actuals.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23774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isn't the product.  </a:t>
            </a:r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governed platform that makes it 21 CFR Part 11 / GxP-defensible and deployable on AWS is.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40233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reference agents · one control plane · land-first with 01 / 02 / 03 / 08 · expand at your own pace.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54864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docs/DEPLOY-QUICKSTART.md  ·  docs/SUITE-ARCHITECTURE.md  ·  June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AI Agent Suite — Executive Overview</dc:title>
  <dc:subject>PptxGenJS Presentation</dc:subject>
  <dc:creator>HCLS AI Agent Suite</dc:creator>
  <cp:lastModifiedBy>HCLS AI Agent Suite</cp:lastModifiedBy>
  <cp:revision>1</cp:revision>
  <dcterms:created xsi:type="dcterms:W3CDTF">2026-06-25T22:00:55Z</dcterms:created>
  <dcterms:modified xsi:type="dcterms:W3CDTF">2026-06-25T22:00:55Z</dcterms:modified>
</cp:coreProperties>
</file>