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[00:20] Title. Agent 09 is BUILT to flagship depth — a LangGraph app (review-by-exception scan + QA gate), 36 passing tests, an AWS-native Strands + Step Functions rebuild, and a four-document doc set. It extends the suite to CMC/manufacturing with the same governed review-and-approve pattern and a QA release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[00:45] Hook. Lead with FDA's 62% (gov). The 48-hr review and $14K deviation figures are sector estimates — flag them. The story: the most regulated, highest-cost manual review in the plant.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[01:10] Issue + cost. Modeled ~$420K/yr investigation labor with arithmetic visible — before scrapped-batch cost. Bright line: QA owns and signs the release; the agent never releases a batch.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[01:35] Pipeline. Review by exception — the agent surfaces only what deviates. Human gate (QA) in red. Every flag traces to a record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[02:15] Architecture. EventBridge triggers review on batch completion. New connectors: MES/EBR + LIMS. Same governed spine + 21 CFR Part 11 audit. Customer provides MES/LIMS access and named QA approvers.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[02:45] Proof + deploy. RBE ~80% is trade-press (illustrative); the &gt;50% deviation reduction is McKinsey. This is a roadmap deck — deployment follows the build (docs/specs/09). Close on the takeaway.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55448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Manufacturing Batch-Review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95528" y="34290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Governed Agentic AI Reference Architecture for Life Sciences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04672" y="41605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9AA7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09 of 8  ·  review electronic batch records by exception — QA owns every release/reject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04672" y="52120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HCLS AI Agent Suite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5532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HCLS AI Agent Suite  ·  Built on AWS  ·  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777240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48-HOUR REVIEWS TO REVIEW BY EXCEPTION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95528" y="18288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Manufacturing Batch-Review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" y="242316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i="1" dirty="0">
                <a:solidFill>
                  <a:srgbClr val="9AA7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governed batch-review copilot that reads the electronic batch record and process data, flags deviations and out-of-spec results by exception, and drafts the disposition — while a QA reviewer makes and signs every release/reject decision.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3566160"/>
            <a:ext cx="3310128" cy="18745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3730752"/>
            <a:ext cx="2852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1051560" y="4590288"/>
            <a:ext cx="2807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US drug shortages trace to manufacturing/quality problems — the #1 root cause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5202936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[gov/peer-reviewed — FDA]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379976" y="3566160"/>
            <a:ext cx="3310128" cy="18745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3730752"/>
            <a:ext cx="2852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~48 hrs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4654296" y="4590288"/>
            <a:ext cx="2807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review per batch report today (up to ~500 hrs for complex paper-based)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54296" y="5202936"/>
            <a:ext cx="139537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[sector-press/estimate]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982712" y="3566160"/>
            <a:ext cx="3310128" cy="18745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38744" y="3730752"/>
            <a:ext cx="2852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~$14K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8257032" y="4590288"/>
            <a:ext cx="2807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cost per deviation investigation (mostly senior labor)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57032" y="5202936"/>
            <a:ext cx="139537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[sector-press/estimate]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HCLS AI Agent Suite  ·  Built on AWS  ·  June 2026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Issue &amp; The Cost of Doing Nothing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13232" y="1325880"/>
            <a:ext cx="5285232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325880"/>
            <a:ext cx="73152" cy="338328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6" name="Text 4"/>
          <p:cNvSpPr/>
          <p:nvPr/>
        </p:nvSpPr>
        <p:spPr>
          <a:xfrm>
            <a:off x="1033272" y="1527048"/>
            <a:ext cx="4645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00" kern="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ISSUE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8992" y="2039112"/>
            <a:ext cx="45994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Batch-record review and OOS/deviation investigation are slow, manual, and senior-labor-heavy.</a:t>
            </a:r>
            <a:endParaRPr lang="en-US" sz="13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CFR 211.192 (production-record review / discrepancy investigation) is among the most-cited FDA warning-letter findings.</a:t>
            </a:r>
            <a:endParaRPr lang="en-US" sz="13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Right-first-time for complex biologics often sits ~80%; every non-RFT batch triggers rework and release delay.</a:t>
            </a:r>
            <a:endParaRPr lang="en-US" sz="13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biologics batch failure can cost tens of millions; raw materials alone often exceed $1–2M.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9944" y="1325880"/>
            <a:ext cx="5285232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9944" y="1325880"/>
            <a:ext cx="73152" cy="338328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0" name="Text 8"/>
          <p:cNvSpPr/>
          <p:nvPr/>
        </p:nvSpPr>
        <p:spPr>
          <a:xfrm>
            <a:off x="6729984" y="1527048"/>
            <a:ext cx="4645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00" kern="0" dirty="0">
                <a:solidFill>
                  <a:srgbClr val="E8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COST OF DOING NOTHING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20840" y="1929384"/>
            <a:ext cx="4645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~$420K / yr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757416" y="26974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Modeled: 200 batches/yr × ~15% deviating (85% RFT) ≈ 30 investigations × ~$14K labor ≈ ~$420K/yr — before any scrapped batch ($1–2M+ each) or delayed-release carrying cost.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75704" y="36118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delays and drug-shortage risk from review backlogs.</a:t>
            </a:r>
            <a:endParaRPr lang="en-US" sz="1200" dirty="0"/>
          </a:p>
          <a:p>
            <a:pPr algn="l"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Data-integrity / 211.192 findings from inconsistent record review.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39128" y="4434840"/>
            <a:ext cx="3209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[modeled — deviation-investigation cost × batch volume]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713232" y="5029200"/>
            <a:ext cx="10771632" cy="9144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6" name="Text 14"/>
          <p:cNvSpPr/>
          <p:nvPr/>
        </p:nvSpPr>
        <p:spPr>
          <a:xfrm>
            <a:off x="1078992" y="50292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line:  </a:t>
            </a:r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reviews records and flags exceptions; a QA reviewer makes and signs the final release/reject decision — the agent never releases a batch.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HCLS AI Agent Suite · Governed Agentic AI on AWS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4747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Solve It — A Governed Pipeline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31520" y="969264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00" i="1" dirty="0">
                <a:solidFill>
                  <a:srgbClr val="6B77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 electronic batch record + MES/LIMS data through a scoped gateway, check by exception and draft the disposition — then stop at a QA gate before release.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13232" y="1828800"/>
            <a:ext cx="1993392" cy="1554480"/>
          </a:xfrm>
          <a:prstGeom prst="rect">
            <a:avLst/>
          </a:prstGeom>
          <a:solidFill>
            <a:srgbClr val="16A085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7782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7782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EBR + MES/LIMS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7782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record + process/QC data via gateway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660904" y="240487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907792" y="1828800"/>
            <a:ext cx="1993392" cy="1554480"/>
          </a:xfrm>
          <a:prstGeom prst="rect">
            <a:avLst/>
          </a:prstGeom>
          <a:solidFill>
            <a:srgbClr val="16A085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07238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07238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by exception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07238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limits, OOS, missing steps, e-sig completeness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55464" y="240487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102352" y="1828800"/>
            <a:ext cx="1993392" cy="1554480"/>
          </a:xfrm>
          <a:prstGeom prst="rect">
            <a:avLst/>
          </a:prstGeom>
          <a:solidFill>
            <a:srgbClr val="16A085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26694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6694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disposition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26694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report + recommended release/hold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050024" y="240487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296912" y="1828800"/>
            <a:ext cx="1993392" cy="1554480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6150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6150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GATE (QA)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46150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reviewer approves release / reject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244584" y="240487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491472" y="1828800"/>
            <a:ext cx="1993392" cy="155448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65606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65606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Append-only audit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65606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check + decision logged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13232" y="3840480"/>
            <a:ext cx="3456432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13232" y="3840480"/>
            <a:ext cx="64008" cy="14630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1" name="Text 29"/>
          <p:cNvSpPr/>
          <p:nvPr/>
        </p:nvSpPr>
        <p:spPr>
          <a:xfrm>
            <a:off x="987552" y="402336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action audited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05840" y="4517136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node, timestamp, actor, data sources, model + prompt version — append-only and inspection-ready (21 CFR Part 11).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370832" y="3840480"/>
            <a:ext cx="3456432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370832" y="3840480"/>
            <a:ext cx="64008" cy="14630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5" name="Text 33"/>
          <p:cNvSpPr/>
          <p:nvPr/>
        </p:nvSpPr>
        <p:spPr>
          <a:xfrm>
            <a:off x="4645152" y="402336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&amp; explainable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663440" y="4517136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regulated claim traces to the source corpus; Bedrock Guardrails mask PHI before any model call and bound the output.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028432" y="3840480"/>
            <a:ext cx="3456432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028432" y="3840480"/>
            <a:ext cx="64008" cy="14630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9" name="Text 37"/>
          <p:cNvSpPr/>
          <p:nvPr/>
        </p:nvSpPr>
        <p:spPr>
          <a:xfrm>
            <a:off x="8302752" y="402336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never decides batch release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321040" y="4517136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consequential action is a human-only step, enforced in the orchestration framework — not a policy SOP.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HCLS AI Agent Suite · Governed Agentic AI on AWS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Architecture &amp; Traffic Flow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2331720" cy="416052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658368" y="923544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 / EXTERNAL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67512" y="1252728"/>
            <a:ext cx="2093976" cy="54864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1280160"/>
            <a:ext cx="1929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review &amp; release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67512" y="1947672"/>
            <a:ext cx="2093976" cy="54864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" y="1975104"/>
            <a:ext cx="1929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— Okta / Azure AD / PingID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5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SAML/OIDC + MFA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67512" y="2642616"/>
            <a:ext cx="2093976" cy="64008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1" name="Text 9"/>
          <p:cNvSpPr/>
          <p:nvPr/>
        </p:nvSpPr>
        <p:spPr>
          <a:xfrm>
            <a:off x="758952" y="2670048"/>
            <a:ext cx="19293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/ electronic batch records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systems · PrivateLink / Direct Connect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67512" y="3429000"/>
            <a:ext cx="2093976" cy="54864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" y="3456432"/>
            <a:ext cx="1929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LIMS (QC results)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67512" y="4069080"/>
            <a:ext cx="2093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PrivateLink / Direct Connect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063240" y="868680"/>
            <a:ext cx="8549640" cy="466344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3172968" y="923544"/>
            <a:ext cx="8330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CLOUD — PER-CUSTOMER VPC (dedicated, validated account per customer)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27832" y="1307592"/>
            <a:ext cx="2468880" cy="178308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3337560" y="1362456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8C4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/ PUBLIC SUBNET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37560" y="1673352"/>
            <a:ext cx="2249424" cy="402336"/>
          </a:xfrm>
          <a:prstGeom prst="rect">
            <a:avLst/>
          </a:prstGeom>
          <a:solidFill>
            <a:srgbClr val="8C4FFF"/>
          </a:solidFill>
          <a:ln/>
        </p:spPr>
      </p:sp>
      <p:sp>
        <p:nvSpPr>
          <p:cNvPr id="20" name="Text 18"/>
          <p:cNvSpPr/>
          <p:nvPr/>
        </p:nvSpPr>
        <p:spPr>
          <a:xfrm>
            <a:off x="3429000" y="1700784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+ WAF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37560" y="2148840"/>
            <a:ext cx="2249424" cy="402336"/>
          </a:xfrm>
          <a:prstGeom prst="rect">
            <a:avLst/>
          </a:prstGeom>
          <a:solidFill>
            <a:srgbClr val="8C4FFF"/>
          </a:solidFill>
          <a:ln/>
        </p:spPr>
      </p:sp>
      <p:sp>
        <p:nvSpPr>
          <p:cNvPr id="22" name="Text 20"/>
          <p:cNvSpPr/>
          <p:nvPr/>
        </p:nvSpPr>
        <p:spPr>
          <a:xfrm>
            <a:off x="3429000" y="217627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— TLS 1.3 + Cognito auth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337560" y="2624328"/>
            <a:ext cx="2249424" cy="402336"/>
          </a:xfrm>
          <a:prstGeom prst="rect">
            <a:avLst/>
          </a:prstGeom>
          <a:solidFill>
            <a:srgbClr val="8C4FFF"/>
          </a:solidFill>
          <a:ln/>
        </p:spPr>
      </p:sp>
      <p:sp>
        <p:nvSpPr>
          <p:cNvPr id="24" name="Text 22"/>
          <p:cNvSpPr/>
          <p:nvPr/>
        </p:nvSpPr>
        <p:spPr>
          <a:xfrm>
            <a:off x="3429000" y="265176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Cognito — SAML→JWT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897880" y="1307592"/>
            <a:ext cx="2788920" cy="178308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6007608" y="1362456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SUBNET — AGENTCORE / FARGATE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07608" y="1673352"/>
            <a:ext cx="2569464" cy="402336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8" name="Text 26"/>
          <p:cNvSpPr/>
          <p:nvPr/>
        </p:nvSpPr>
        <p:spPr>
          <a:xfrm>
            <a:off x="6099048" y="1700784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worker + EventBridge</a:t>
            </a:r>
            <a:endParaRPr lang="en-US" sz="80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68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batch completion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007608" y="2139696"/>
            <a:ext cx="2569464" cy="402336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0" name="Text 28"/>
          <p:cNvSpPr/>
          <p:nvPr/>
        </p:nvSpPr>
        <p:spPr>
          <a:xfrm>
            <a:off x="6099048" y="2167128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Review/exception agent + limit checker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007608" y="2606040"/>
            <a:ext cx="2569464" cy="402336"/>
          </a:xfrm>
          <a:prstGeom prst="rect">
            <a:avLst/>
          </a:prstGeom>
          <a:solidFill>
            <a:srgbClr val="E7157B"/>
          </a:solidFill>
          <a:ln/>
        </p:spPr>
      </p:sp>
      <p:sp>
        <p:nvSpPr>
          <p:cNvPr id="32" name="Text 30"/>
          <p:cNvSpPr/>
          <p:nvPr/>
        </p:nvSpPr>
        <p:spPr>
          <a:xfrm>
            <a:off x="6099048" y="2633472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auth gateway</a:t>
            </a:r>
            <a:endParaRPr lang="en-US" sz="80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68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outbound tool calls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8887968" y="1307592"/>
            <a:ext cx="2331720" cy="178308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8997696" y="1362456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LAYER — VPC ENDPOINT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997696" y="1691640"/>
            <a:ext cx="2112264" cy="566928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6" name="Text 34"/>
          <p:cNvSpPr/>
          <p:nvPr/>
        </p:nvSpPr>
        <p:spPr>
          <a:xfrm>
            <a:off x="9089136" y="1719072"/>
            <a:ext cx="1947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</a:t>
            </a:r>
            <a:endParaRPr lang="en-US" sz="90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5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(analysis + draft)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997696" y="2350008"/>
            <a:ext cx="2112264" cy="566928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8" name="Text 36"/>
          <p:cNvSpPr/>
          <p:nvPr/>
        </p:nvSpPr>
        <p:spPr>
          <a:xfrm>
            <a:off x="9089136" y="2377440"/>
            <a:ext cx="1947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Guardrails</a:t>
            </a:r>
            <a:endParaRPr lang="en-US" sz="90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+ content filters (mandatory)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27832" y="3246120"/>
            <a:ext cx="8220456" cy="114300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3337560" y="3300984"/>
            <a:ext cx="8001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7AA1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TIER — KMS CMK-ENCRYPTED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337560" y="3630168"/>
            <a:ext cx="1876806" cy="621792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42" name="Text 40"/>
          <p:cNvSpPr/>
          <p:nvPr/>
        </p:nvSpPr>
        <p:spPr>
          <a:xfrm>
            <a:off x="3429000" y="3657600"/>
            <a:ext cx="1712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/ DynamoDB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+ review state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378958" y="3630168"/>
            <a:ext cx="1876806" cy="621792"/>
          </a:xfrm>
          <a:prstGeom prst="rect">
            <a:avLst/>
          </a:prstGeom>
          <a:solidFill>
            <a:srgbClr val="E7157B"/>
          </a:solidFill>
          <a:ln/>
        </p:spPr>
      </p:sp>
      <p:sp>
        <p:nvSpPr>
          <p:cNvPr id="44" name="Text 42"/>
          <p:cNvSpPr/>
          <p:nvPr/>
        </p:nvSpPr>
        <p:spPr>
          <a:xfrm>
            <a:off x="5470398" y="3657600"/>
            <a:ext cx="1712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audit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420356" y="3630168"/>
            <a:ext cx="1876806" cy="621792"/>
          </a:xfrm>
          <a:prstGeom prst="rect">
            <a:avLst/>
          </a:prstGeom>
          <a:solidFill>
            <a:srgbClr val="7AA116"/>
          </a:solidFill>
          <a:ln/>
        </p:spPr>
      </p:sp>
      <p:sp>
        <p:nvSpPr>
          <p:cNvPr id="46" name="Text 44"/>
          <p:cNvSpPr/>
          <p:nvPr/>
        </p:nvSpPr>
        <p:spPr>
          <a:xfrm>
            <a:off x="7511796" y="3657600"/>
            <a:ext cx="1712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Object Lock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WORM disposition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9461754" y="3630168"/>
            <a:ext cx="1876806" cy="621792"/>
          </a:xfrm>
          <a:prstGeom prst="rect">
            <a:avLst/>
          </a:prstGeom>
          <a:solidFill>
            <a:srgbClr val="7AA116"/>
          </a:solidFill>
          <a:ln/>
        </p:spPr>
      </p:sp>
      <p:sp>
        <p:nvSpPr>
          <p:cNvPr id="48" name="Text 46"/>
          <p:cNvSpPr/>
          <p:nvPr/>
        </p:nvSpPr>
        <p:spPr>
          <a:xfrm>
            <a:off x="9553194" y="3657600"/>
            <a:ext cx="1712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Manager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tokens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227832" y="4544568"/>
            <a:ext cx="8220456" cy="713232"/>
          </a:xfrm>
          <a:prstGeom prst="rect">
            <a:avLst/>
          </a:prstGeom>
          <a:solidFill>
            <a:srgbClr val="1B2530"/>
          </a:solidFill>
          <a:ln/>
        </p:spPr>
      </p:sp>
      <p:sp>
        <p:nvSpPr>
          <p:cNvPr id="50" name="Text 48"/>
          <p:cNvSpPr/>
          <p:nvPr/>
        </p:nvSpPr>
        <p:spPr>
          <a:xfrm>
            <a:off x="3429000" y="4544568"/>
            <a:ext cx="78546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OPS:  </a:t>
            </a:r>
            <a:pPr algn="l" indent="0" marL="0">
              <a:buNone/>
            </a:pPr>
            <a:r>
              <a:rPr lang="en-US" sz="100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KMS CMK per data class  ·  IAM least privilege  ·  CloudWatch  ·  X-Ray  ·  CloudTrail  ·  Security Hub + Config (21 CFR Part 11 audit)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843784" y="1325880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843784" y="1325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843784" y="2039112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843784" y="2039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5678424" y="2176272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678424" y="2176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843784" y="2788920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843784" y="2788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7146036" y="3054096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146036" y="3054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8705088" y="1856232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705088" y="1856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11082528" y="3099816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1082528" y="3099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8321040" y="3054096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321040" y="3054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48640" y="571500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QA sign-in   2 SAML federation (MFA at IdP; Cognito issues JWT)   3 authenticated session to review console   4 MES/EBR + LIMS reads over private connectivity   5 EventBridge triggers review on batch completion   6 model calls stay in-VPC via Bedrock + Guardrails   7 every flag, exception, and release decision persisted to append-only audit (21 CFR Part 11)   8 connectors reachable only through the governed MCP gateway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4747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Proof, Payback &amp; How to Deploy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13232" y="1234440"/>
            <a:ext cx="5285232" cy="37033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435608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OUTCOMES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1947672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~80%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05840" y="2478024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batch-release time cut with review by exception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05840" y="3008376"/>
            <a:ext cx="139537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[sector-press/estimate]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465576" y="1947672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&gt;50%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465576" y="2478024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 reduction at a benchmarked biopharma site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65576" y="3008376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[industry-research — McKinsey]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05840" y="315468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 cited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005840" y="3685032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211.192 record-review is a top FDA warning-letter finding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05840" y="4215384"/>
            <a:ext cx="11686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[gov/peer-reviewed]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465576" y="315468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tests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465576" y="3685032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with no API key (built to flagship depth)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65576" y="4215384"/>
            <a:ext cx="4882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[built]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409944" y="1234440"/>
            <a:ext cx="5285232" cy="37033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02552" y="1435608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TAKES TO DEPLOY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21424" y="1892808"/>
            <a:ext cx="455371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KMS CMK + per-customer validated VPC / network.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Cognito SAML→JWT federation (operator / QA-reviewer roles).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with CloudFront + WAF, ALB TLS 1.3.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agent + grant tools via the MCP gateway (deny-by-default).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MES / electronic batch records + LIMS; wire EventBridge on batch completion.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S3 Object Lock + append-only audit; run smoke + QA-gate test.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702552" y="4087368"/>
            <a:ext cx="4718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 </a:t>
            </a:r>
            <a:pPr algn="l"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CloudFormation quick-deploy provisions the isolated environment + dual MCP gateway + connector Lambdas (mes/lims); connect MES/EBR + LIMS. AWS-native Strands + Step Functions rebuild included.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702552" y="4572000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aws-native-reference/09-manufacturing-batch-review/DEPLOY.md  ·  docs/DEPLOY-QUICKSTART.md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13232" y="5230368"/>
            <a:ext cx="10771632" cy="841248"/>
          </a:xfrm>
          <a:prstGeom prst="rect">
            <a:avLst/>
          </a:prstGeom>
          <a:solidFill>
            <a:srgbClr val="1B2530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78992" y="5230368"/>
            <a:ext cx="10058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takeaway:  </a:t>
            </a:r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isn't the product — the governed platform that makes it 21 CFR Part 11 / GxP-defensible and deployable on AWS is.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32F3E"/>
      </a:dk2>
      <a:lt2>
        <a:srgbClr val="E7E6E6"/>
      </a:lt2>
      <a:accent1>
        <a:srgbClr val="FF9900"/>
      </a:accent1>
      <a:accent2>
        <a:srgbClr val="232F3E"/>
      </a:accent2>
      <a:accent3>
        <a:srgbClr val="01A88D"/>
      </a:accent3>
      <a:accent4>
        <a:srgbClr val="8C4FFF"/>
      </a:accent4>
      <a:accent5>
        <a:srgbClr val="DD344C"/>
      </a:accent5>
      <a:accent6>
        <a:srgbClr val="ED7100"/>
      </a:accent6>
      <a:hlink>
        <a:srgbClr val="0563C1"/>
      </a:hlink>
      <a:folHlink>
        <a:srgbClr val="954F72"/>
      </a:folHlink>
    </a:clrScheme>
    <a:fontScheme name="Office">
      <a:majorFont>
        <a:latin typeface="Amazon Ember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mazon Ember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HCLS Agent 09 — Manufacturing Batch-Review</dc:title>
  <dc:subject>PptxGenJS Presentation</dc:subject>
  <dc:creator>HCLS AI Agent Suite</dc:creator>
  <cp:lastModifiedBy>HCLS AI Agent Suite</cp:lastModifiedBy>
  <cp:revision>1</cp:revision>
  <dcterms:created xsi:type="dcterms:W3CDTF">2026-06-25T22:00:54Z</dcterms:created>
  <dcterms:modified xsi:type="dcterms:W3CDTF">2026-06-25T22:00:54Z</dcterms:modified>
</cp:coreProperties>
</file>