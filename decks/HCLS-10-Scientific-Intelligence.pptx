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[00:20] Title. Agent 10 is a ROADMAP/expansion agent (Documented maturity) — cited design, not a built reference. It extends the suite to the FRONT of the lifecycle (R&amp;D). Position to a different buyer: research informatics / computational biology, not the clinical/safety/quality buyer of the built eight.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[00:45] Hook. Lead with the peer-reviewed ~86% failure (Wong 2019) and the 11% reproducibility (Begley). PubMed scale is the overload pain. All three are gov/peer-reviewed.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[01:10] Issue + cost. The cost is the $2.6B/drug and ~$430M preclinical — failed targets are the dominant driver. Bright line: the scientist owns the hypothesis; provenance answers the reproducibility pain.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[01:35] Pipeline. The differentiator is provenance — every claim links to its source. Human gate (scientist) in red. This is evidence synthesis, not an autonomous decision.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[02:15] Architecture. New connectors: ELN + literature/omics/patents into a Knowledge Base. Internal evidence stays in-VPC and never egresses after masking. Customer provides ELN access and the corpus.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[02:45] Proof + deploy. Insilico/AstraZeneca figures are company-/vendor-reported — never lead with them. Roadmap deck — deployment follows the build (docs/specs/10). Close on the takeaway.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1554480"/>
            <a:ext cx="1060704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Intelligence &amp; Target Discovery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3429000"/>
            <a:ext cx="10424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Governed Agentic AI Reference Architecture for Life Sciences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804672" y="4160520"/>
            <a:ext cx="10424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 10 of 8  ·  synthesize literature, omics &amp; patents into ranked, evidence-linked targets — a scientist owns the hypothesis  [roadmap]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804672" y="5212080"/>
            <a:ext cx="10424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HCLS AI Agent Suite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804672" y="5532120"/>
            <a:ext cx="10424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77240" y="777240"/>
            <a:ext cx="106984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000" b="1" spc="1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A MILLION PAPERS A YEAR TO RANKED TARGETS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795528" y="1828800"/>
            <a:ext cx="10607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Scientific Intelligence &amp; Target Discovery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804672" y="242316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5000"/>
              </a:lnSpc>
              <a:buNone/>
            </a:pPr>
            <a:r>
              <a:rPr lang="en-US" sz="1500" i="1" dirty="0">
                <a:solidFill>
                  <a:srgbClr val="9AA7B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governed discovery copilot that synthesizes literature, omics, patents, and internal data into ranked, evidence-linked targets with full provenance — while a scientist owns the target hypothesis and every go/no-go decision.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777240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33272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~86%</a:t>
            </a:r>
            <a:endParaRPr lang="en-US" sz="3300" dirty="0"/>
          </a:p>
        </p:txBody>
      </p:sp>
      <p:sp>
        <p:nvSpPr>
          <p:cNvPr id="8" name="Text 6"/>
          <p:cNvSpPr/>
          <p:nvPr/>
        </p:nvSpPr>
        <p:spPr>
          <a:xfrm>
            <a:off x="1051560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drugs entering clinical testing fail; wrong target / lack of efficacy leads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051560" y="5202936"/>
            <a:ext cx="1848917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Wong 2019]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4379976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36008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11%</a:t>
            </a:r>
            <a:endParaRPr lang="en-US" sz="3300" dirty="0"/>
          </a:p>
        </p:txBody>
      </p:sp>
      <p:sp>
        <p:nvSpPr>
          <p:cNvPr id="12" name="Text 10"/>
          <p:cNvSpPr/>
          <p:nvPr/>
        </p:nvSpPr>
        <p:spPr>
          <a:xfrm>
            <a:off x="4654296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landmark preclinical cancer studies were reproducible (Amgen)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654296" y="5202936"/>
            <a:ext cx="196230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Begley 2012]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7982712" y="3566160"/>
            <a:ext cx="3310128" cy="18745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238744" y="3730752"/>
            <a:ext cx="285292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5000"/>
              </a:lnSpc>
              <a:buNone/>
            </a:pPr>
            <a:r>
              <a:rPr lang="en-US" sz="33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&gt;1M / yr</a:t>
            </a:r>
            <a:endParaRPr lang="en-US" sz="3300" dirty="0"/>
          </a:p>
        </p:txBody>
      </p:sp>
      <p:sp>
        <p:nvSpPr>
          <p:cNvPr id="16" name="Text 14"/>
          <p:cNvSpPr/>
          <p:nvPr/>
        </p:nvSpPr>
        <p:spPr>
          <a:xfrm>
            <a:off x="8257032" y="4590288"/>
            <a:ext cx="2807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20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papers added to PubMed (&gt;35M total) — no team can read it all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57032" y="5202936"/>
            <a:ext cx="15087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[gov/peer-reviewed — NLM]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 ·  Built on AWS  ·  June 2026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65760"/>
            <a:ext cx="10972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3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 &amp; The Cost of Doing Nothing</a:t>
            </a:r>
            <a:endParaRPr lang="en-US" sz="3300" dirty="0"/>
          </a:p>
        </p:txBody>
      </p:sp>
      <p:sp>
        <p:nvSpPr>
          <p:cNvPr id="4" name="Shape 2"/>
          <p:cNvSpPr/>
          <p:nvPr/>
        </p:nvSpPr>
        <p:spPr>
          <a:xfrm>
            <a:off x="713232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13232" y="1325880"/>
            <a:ext cx="73152" cy="33832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6" name="Text 4"/>
          <p:cNvSpPr/>
          <p:nvPr/>
        </p:nvSpPr>
        <p:spPr>
          <a:xfrm>
            <a:off x="1033272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ISSUE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078992" y="2039112"/>
            <a:ext cx="4599432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evidence is spread across &gt;35M papers, omics, patents, and internal data — no team can synthesize it manually.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Poor target validation is a leading cause of the ~86% clinical failure rate.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preclinical evidence base is shaky — only ~11% of landmark cancer studies reproduced.</a:t>
            </a:r>
            <a:endParaRPr lang="en-US" sz="1300" dirty="0"/>
          </a:p>
          <a:p>
            <a:pPr algn="l" marL="342900" indent="-342900">
              <a:lnSpc>
                <a:spcPct val="102000"/>
              </a:lnSpc>
              <a:spcAft>
                <a:spcPts val="900"/>
              </a:spcAft>
              <a:buSzPct val="100000"/>
              <a:buChar char="•"/>
            </a:pPr>
            <a:r>
              <a:rPr lang="en-US" sz="13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Discovery-to-candidate runs ~3–6 years and hundreds of millions before a single patient.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409944" y="1325880"/>
            <a:ext cx="5285232" cy="338328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6409944" y="1325880"/>
            <a:ext cx="73152" cy="338328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10" name="Text 8"/>
          <p:cNvSpPr/>
          <p:nvPr/>
        </p:nvSpPr>
        <p:spPr>
          <a:xfrm>
            <a:off x="6729984" y="1527048"/>
            <a:ext cx="46451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spc="100" kern="0" dirty="0">
                <a:solidFill>
                  <a:srgbClr val="E88A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COST OF DOING NOTHING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6720840" y="1929384"/>
            <a:ext cx="464515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~$2.6B / drug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6757416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10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Industry: ~$2.6B capitalized cost per approved drug (incl. failures); a typical preclinical program is ~$430M out-of-pocket over 3–6 years. Failed targets are the dominant driver.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775704" y="36118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and hundreds of millions sunk into targets that fail in the clinic.</a:t>
            </a:r>
            <a:endParaRPr lang="en-US" sz="1200" dirty="0"/>
          </a:p>
          <a:p>
            <a:pPr algn="l" marL="342900" indent="-342900">
              <a:lnSpc>
                <a:spcPct val="100000"/>
              </a:lnSpc>
              <a:spcAft>
                <a:spcPts val="700"/>
              </a:spcAft>
              <a:buSzPct val="100000"/>
              <a:buChar char="•"/>
            </a:pPr>
            <a:r>
              <a:rPr lang="en-US" sz="12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Missed prior art / evidence that a competitor already acted on.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739128" y="4434840"/>
            <a:ext cx="2415845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 — DiMasi/Tufts; PhRMA]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713232" y="5029200"/>
            <a:ext cx="10771632" cy="91440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6" name="Text 14"/>
          <p:cNvSpPr/>
          <p:nvPr/>
        </p:nvSpPr>
        <p:spPr>
          <a:xfrm>
            <a:off x="1078992" y="5029200"/>
            <a:ext cx="10058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4000"/>
              </a:lnSpc>
              <a:buNone/>
            </a:pPr>
            <a:r>
              <a:rPr lang="en-US" sz="14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design line:  </a:t>
            </a:r>
            <a:pPr algn="l" indent="0" marL="0">
              <a:lnSpc>
                <a:spcPct val="104000"/>
              </a:lnSpc>
              <a:buNone/>
            </a:pPr>
            <a:r>
              <a:rPr lang="en-US" sz="14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synthesizes and ranks evidence with full provenance; a scientist owns the target hypothesis and the go/no-go decision.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3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We Solve It — A Governed Pipeline</a:t>
            </a:r>
            <a:endParaRPr lang="en-US" sz="3100" dirty="0"/>
          </a:p>
        </p:txBody>
      </p:sp>
      <p:sp>
        <p:nvSpPr>
          <p:cNvPr id="4" name="Text 2"/>
          <p:cNvSpPr/>
          <p:nvPr/>
        </p:nvSpPr>
        <p:spPr>
          <a:xfrm>
            <a:off x="731520" y="969264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2000"/>
              </a:lnSpc>
              <a:buNone/>
            </a:pPr>
            <a:r>
              <a:rPr lang="en-US" sz="1400" i="1" dirty="0">
                <a:solidFill>
                  <a:srgbClr val="6B778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Retrieve literature, omics, patents and internal data through a scoped gateway, synthesize and rank targets with provenance — then route the hypothesis to a scientist.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71323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7782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7782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Retrieve evidence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87782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literature/omics/patents/internal via gateway + KB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266090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290779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07238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12" name="Text 10"/>
          <p:cNvSpPr/>
          <p:nvPr/>
        </p:nvSpPr>
        <p:spPr>
          <a:xfrm>
            <a:off x="307238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Synthesize &amp; link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307238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claims, link to source, de-duplicate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85546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102352" y="1828800"/>
            <a:ext cx="1993392" cy="1554480"/>
          </a:xfrm>
          <a:prstGeom prst="rect">
            <a:avLst/>
          </a:prstGeom>
          <a:solidFill>
            <a:srgbClr val="16A085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26694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526694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Rank targets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526694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on evidence strength + tractability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705002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0" name="Shape 18"/>
          <p:cNvSpPr/>
          <p:nvPr/>
        </p:nvSpPr>
        <p:spPr>
          <a:xfrm>
            <a:off x="7296912" y="1828800"/>
            <a:ext cx="1993392" cy="1554480"/>
          </a:xfrm>
          <a:prstGeom prst="rect">
            <a:avLst/>
          </a:prstGeom>
          <a:solidFill>
            <a:srgbClr val="C0392B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746150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22" name="Text 20"/>
          <p:cNvSpPr/>
          <p:nvPr/>
        </p:nvSpPr>
        <p:spPr>
          <a:xfrm>
            <a:off x="746150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 GATE</a:t>
            </a:r>
            <a:endParaRPr lang="en-US" sz="1250" dirty="0"/>
          </a:p>
        </p:txBody>
      </p:sp>
      <p:sp>
        <p:nvSpPr>
          <p:cNvPr id="23" name="Text 21"/>
          <p:cNvSpPr/>
          <p:nvPr/>
        </p:nvSpPr>
        <p:spPr>
          <a:xfrm>
            <a:off x="746150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scientist owns the hypothesis &amp; go/no-go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9244584" y="2404872"/>
            <a:ext cx="29260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25" name="Shape 23"/>
          <p:cNvSpPr/>
          <p:nvPr/>
        </p:nvSpPr>
        <p:spPr>
          <a:xfrm>
            <a:off x="9491472" y="1828800"/>
            <a:ext cx="1993392" cy="1554480"/>
          </a:xfrm>
          <a:prstGeom prst="rect">
            <a:avLst/>
          </a:prstGeom>
          <a:solidFill>
            <a:srgbClr val="232F3E"/>
          </a:solidFill>
          <a:ln/>
          <a:effectLst>
            <a:outerShdw sx="100000" sy="100000" kx="0" ky="0" algn="bl" rotWithShape="0" blurRad="63500" dist="25400" dir="5400000">
              <a:srgbClr val="000000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9656064" y="1938528"/>
            <a:ext cx="548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27" name="Text 25"/>
          <p:cNvSpPr/>
          <p:nvPr/>
        </p:nvSpPr>
        <p:spPr>
          <a:xfrm>
            <a:off x="9656064" y="2359152"/>
            <a:ext cx="16642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Append-only audit</a:t>
            </a:r>
            <a:endParaRPr lang="en-US" sz="1250" dirty="0"/>
          </a:p>
        </p:txBody>
      </p:sp>
      <p:sp>
        <p:nvSpPr>
          <p:cNvPr id="28" name="Text 26"/>
          <p:cNvSpPr/>
          <p:nvPr/>
        </p:nvSpPr>
        <p:spPr>
          <a:xfrm>
            <a:off x="9656064" y="2889504"/>
            <a:ext cx="168249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6000"/>
              </a:lnSpc>
              <a:buNone/>
            </a:pPr>
            <a:r>
              <a:rPr lang="en-US" sz="900" dirty="0">
                <a:solidFill>
                  <a:srgbClr val="EAF0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provenance + decisions logged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7132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7132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1" name="Text 29"/>
          <p:cNvSpPr/>
          <p:nvPr/>
        </p:nvSpPr>
        <p:spPr>
          <a:xfrm>
            <a:off x="9875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action audited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0058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node, timestamp, actor, data sources, model + prompt version — append-only and inspection-ready (21 CFR Part 11).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43708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43708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5" name="Text 33"/>
          <p:cNvSpPr/>
          <p:nvPr/>
        </p:nvSpPr>
        <p:spPr>
          <a:xfrm>
            <a:off x="46451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Grounded &amp; explainable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46634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regulated claim traces to the source corpus; Bedrock Guardrails mask PHI before any model call and bound the output.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8028432" y="3840480"/>
            <a:ext cx="3456432" cy="1463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88900" dist="38100" dir="5400000">
              <a:srgbClr val="000000">
                <a:alpha val="16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8028432" y="3840480"/>
            <a:ext cx="64008" cy="146304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9" name="Text 37"/>
          <p:cNvSpPr/>
          <p:nvPr/>
        </p:nvSpPr>
        <p:spPr>
          <a:xfrm>
            <a:off x="8302752" y="4023360"/>
            <a:ext cx="295351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never decides the target hypothesis</a:t>
            </a:r>
            <a:endParaRPr lang="en-US" sz="1400" dirty="0"/>
          </a:p>
        </p:txBody>
      </p:sp>
      <p:sp>
        <p:nvSpPr>
          <p:cNvPr id="40" name="Text 38"/>
          <p:cNvSpPr/>
          <p:nvPr/>
        </p:nvSpPr>
        <p:spPr>
          <a:xfrm>
            <a:off x="8321040" y="4517136"/>
            <a:ext cx="290779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10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consequential action is a human-only step, enforced in the orchestration framework — not a policy SOP.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502920" y="6473952"/>
            <a:ext cx="11185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HCLS AI Agent Suite · Governed Agentic AI on AWS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182880"/>
            <a:ext cx="11155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9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Architecture &amp; Traffic Flow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548640" y="868680"/>
            <a:ext cx="2331720" cy="416052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658368" y="923544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6B77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 / EXTERNAL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667512" y="1252728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7" name="Text 5"/>
          <p:cNvSpPr/>
          <p:nvPr/>
        </p:nvSpPr>
        <p:spPr>
          <a:xfrm>
            <a:off x="758952" y="1280160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Discovery scientists &amp; computational biology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667512" y="1947672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9" name="Text 7"/>
          <p:cNvSpPr/>
          <p:nvPr/>
        </p:nvSpPr>
        <p:spPr>
          <a:xfrm>
            <a:off x="758952" y="1975104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IdP — Okta / Azure AD / PingID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SAML/OIDC + MFA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67512" y="2642616"/>
            <a:ext cx="2093976" cy="64008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1" name="Text 9"/>
          <p:cNvSpPr/>
          <p:nvPr/>
        </p:nvSpPr>
        <p:spPr>
          <a:xfrm>
            <a:off x="758952" y="2670048"/>
            <a:ext cx="1929384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ELN + internal data lake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 systems · PrivateLink / Direct Connect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667512" y="3429000"/>
            <a:ext cx="2093976" cy="548640"/>
          </a:xfrm>
          <a:prstGeom prst="rect">
            <a:avLst/>
          </a:prstGeom>
          <a:solidFill>
            <a:srgbClr val="232F3E"/>
          </a:solidFill>
          <a:ln/>
        </p:spPr>
      </p:sp>
      <p:sp>
        <p:nvSpPr>
          <p:cNvPr id="13" name="Text 11"/>
          <p:cNvSpPr/>
          <p:nvPr/>
        </p:nvSpPr>
        <p:spPr>
          <a:xfrm>
            <a:off x="758952" y="3456432"/>
            <a:ext cx="1929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Literature · omics · patents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667512" y="4069080"/>
            <a:ext cx="2093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6B77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PrivateLink / Direct Connect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3063240" y="868680"/>
            <a:ext cx="8549640" cy="466344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6" name="Text 14"/>
          <p:cNvSpPr/>
          <p:nvPr/>
        </p:nvSpPr>
        <p:spPr>
          <a:xfrm>
            <a:off x="3172968" y="923544"/>
            <a:ext cx="8330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AWS CLOUD — PER-CUSTOMER VPC (dedicated, validated account per customer)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3227832" y="1307592"/>
            <a:ext cx="246888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18" name="Text 16"/>
          <p:cNvSpPr/>
          <p:nvPr/>
        </p:nvSpPr>
        <p:spPr>
          <a:xfrm>
            <a:off x="3337560" y="1362456"/>
            <a:ext cx="22494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8C4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/ PUBLIC SUBNET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337560" y="1673352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0" name="Text 18"/>
          <p:cNvSpPr/>
          <p:nvPr/>
        </p:nvSpPr>
        <p:spPr>
          <a:xfrm>
            <a:off x="3429000" y="1700784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CloudFront + WAF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148840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2" name="Text 20"/>
          <p:cNvSpPr/>
          <p:nvPr/>
        </p:nvSpPr>
        <p:spPr>
          <a:xfrm>
            <a:off x="3429000" y="2176272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ALB — TLS 1.3 + Cognito auth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3337560" y="2624328"/>
            <a:ext cx="2249424" cy="402336"/>
          </a:xfrm>
          <a:prstGeom prst="rect">
            <a:avLst/>
          </a:prstGeom>
          <a:solidFill>
            <a:srgbClr val="8C4FFF"/>
          </a:solidFill>
          <a:ln/>
        </p:spPr>
      </p:sp>
      <p:sp>
        <p:nvSpPr>
          <p:cNvPr id="24" name="Text 22"/>
          <p:cNvSpPr/>
          <p:nvPr/>
        </p:nvSpPr>
        <p:spPr>
          <a:xfrm>
            <a:off x="3429000" y="2651760"/>
            <a:ext cx="208483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Cognito — SAML→JWT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897880" y="1307592"/>
            <a:ext cx="27889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26" name="Text 24"/>
          <p:cNvSpPr/>
          <p:nvPr/>
        </p:nvSpPr>
        <p:spPr>
          <a:xfrm>
            <a:off x="6007608" y="1362456"/>
            <a:ext cx="25694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PRIVATE SUBNET — AGENTCORE / FARGATE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007608" y="1673352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28" name="Text 26"/>
          <p:cNvSpPr/>
          <p:nvPr/>
        </p:nvSpPr>
        <p:spPr>
          <a:xfrm>
            <a:off x="6099048" y="1700784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task (discovery console)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6007608" y="2139696"/>
            <a:ext cx="2569464" cy="402336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0" name="Text 28"/>
          <p:cNvSpPr/>
          <p:nvPr/>
        </p:nvSpPr>
        <p:spPr>
          <a:xfrm>
            <a:off x="6099048" y="2167128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Synthesis/ranking agent + provenance linker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6007608" y="2606040"/>
            <a:ext cx="2569464" cy="402336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32" name="Text 30"/>
          <p:cNvSpPr/>
          <p:nvPr/>
        </p:nvSpPr>
        <p:spPr>
          <a:xfrm>
            <a:off x="6099048" y="2633472"/>
            <a:ext cx="24048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MCP auth gateway</a:t>
            </a:r>
            <a:endParaRPr lang="en-US" sz="8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68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outbound tool calls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8887968" y="1307592"/>
            <a:ext cx="2331720" cy="178308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8997696" y="1362456"/>
            <a:ext cx="21122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LAYER — VPC ENDPOINT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997696" y="1691640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6" name="Text 34"/>
          <p:cNvSpPr/>
          <p:nvPr/>
        </p:nvSpPr>
        <p:spPr>
          <a:xfrm>
            <a:off x="9089136" y="1719072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Amazon Bedrock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5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(analysis + draft)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8997696" y="2350008"/>
            <a:ext cx="2112264" cy="566928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38" name="Text 36"/>
          <p:cNvSpPr/>
          <p:nvPr/>
        </p:nvSpPr>
        <p:spPr>
          <a:xfrm>
            <a:off x="9089136" y="2377440"/>
            <a:ext cx="1947672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Guardrails</a:t>
            </a:r>
            <a:endParaRPr lang="en-US" sz="90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 + content filters (mandatory)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227832" y="3246120"/>
            <a:ext cx="8220456" cy="1143000"/>
          </a:xfrm>
          <a:prstGeom prst="rect">
            <a:avLst/>
          </a:prstGeom>
          <a:ln w="12700">
            <a:solidFill>
              <a:srgbClr val="9AA7B4"/>
            </a:solidFill>
            <a:prstDash val="dash"/>
          </a:ln>
        </p:spPr>
      </p:sp>
      <p:sp>
        <p:nvSpPr>
          <p:cNvPr id="40" name="Text 38"/>
          <p:cNvSpPr/>
          <p:nvPr/>
        </p:nvSpPr>
        <p:spPr>
          <a:xfrm>
            <a:off x="3337560" y="3300984"/>
            <a:ext cx="8001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b="1" spc="50" kern="0" dirty="0">
                <a:solidFill>
                  <a:srgbClr val="7AA11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TIER — KMS CMK-ENCRYPTED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3337560" y="3630168"/>
            <a:ext cx="1876806" cy="621792"/>
          </a:xfrm>
          <a:prstGeom prst="rect">
            <a:avLst/>
          </a:prstGeom>
          <a:solidFill>
            <a:srgbClr val="16A085"/>
          </a:solidFill>
          <a:ln/>
        </p:spPr>
      </p:sp>
      <p:sp>
        <p:nvSpPr>
          <p:cNvPr id="42" name="Text 40"/>
          <p:cNvSpPr/>
          <p:nvPr/>
        </p:nvSpPr>
        <p:spPr>
          <a:xfrm>
            <a:off x="3429000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Knowledge Base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corpus (RAG)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5378958" y="3630168"/>
            <a:ext cx="1876806" cy="621792"/>
          </a:xfrm>
          <a:prstGeom prst="rect">
            <a:avLst/>
          </a:prstGeom>
          <a:solidFill>
            <a:srgbClr val="E7157B"/>
          </a:solidFill>
          <a:ln/>
        </p:spPr>
      </p:sp>
      <p:sp>
        <p:nvSpPr>
          <p:cNvPr id="44" name="Text 42"/>
          <p:cNvSpPr/>
          <p:nvPr/>
        </p:nvSpPr>
        <p:spPr>
          <a:xfrm>
            <a:off x="5470398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DynamoDB audit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850" dirty="0"/>
          </a:p>
        </p:txBody>
      </p:sp>
      <p:sp>
        <p:nvSpPr>
          <p:cNvPr id="45" name="Shape 43"/>
          <p:cNvSpPr/>
          <p:nvPr/>
        </p:nvSpPr>
        <p:spPr>
          <a:xfrm>
            <a:off x="7420356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6" name="Text 44"/>
          <p:cNvSpPr/>
          <p:nvPr/>
        </p:nvSpPr>
        <p:spPr>
          <a:xfrm>
            <a:off x="7511796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 Object Lock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WORM rationale</a:t>
            </a:r>
            <a:endParaRPr lang="en-US" sz="850" dirty="0"/>
          </a:p>
        </p:txBody>
      </p:sp>
      <p:sp>
        <p:nvSpPr>
          <p:cNvPr id="47" name="Shape 45"/>
          <p:cNvSpPr/>
          <p:nvPr/>
        </p:nvSpPr>
        <p:spPr>
          <a:xfrm>
            <a:off x="9461754" y="3630168"/>
            <a:ext cx="1876806" cy="621792"/>
          </a:xfrm>
          <a:prstGeom prst="rect">
            <a:avLst/>
          </a:prstGeom>
          <a:solidFill>
            <a:srgbClr val="7AA116"/>
          </a:solidFill>
          <a:ln/>
        </p:spPr>
      </p:sp>
      <p:sp>
        <p:nvSpPr>
          <p:cNvPr id="48" name="Text 46"/>
          <p:cNvSpPr/>
          <p:nvPr/>
        </p:nvSpPr>
        <p:spPr>
          <a:xfrm>
            <a:off x="9553194" y="3657600"/>
            <a:ext cx="171221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94000"/>
              </a:lnSpc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Secrets Manager</a:t>
            </a:r>
            <a:endParaRPr lang="en-US" sz="850" dirty="0"/>
          </a:p>
          <a:p>
            <a:pPr algn="l" indent="0" marL="0">
              <a:lnSpc>
                <a:spcPct val="94000"/>
              </a:lnSpc>
              <a:buNone/>
            </a:pPr>
            <a:r>
              <a:rPr lang="en-US" sz="700" dirty="0">
                <a:solidFill>
                  <a:srgbClr val="F0F4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tokens</a:t>
            </a:r>
            <a:endParaRPr lang="en-US" sz="850" dirty="0"/>
          </a:p>
        </p:txBody>
      </p:sp>
      <p:sp>
        <p:nvSpPr>
          <p:cNvPr id="49" name="Shape 47"/>
          <p:cNvSpPr/>
          <p:nvPr/>
        </p:nvSpPr>
        <p:spPr>
          <a:xfrm>
            <a:off x="3227832" y="4544568"/>
            <a:ext cx="8220456" cy="713232"/>
          </a:xfrm>
          <a:prstGeom prst="rect">
            <a:avLst/>
          </a:prstGeom>
          <a:solidFill>
            <a:srgbClr val="1B2530"/>
          </a:solidFill>
          <a:ln/>
        </p:spPr>
      </p:sp>
      <p:sp>
        <p:nvSpPr>
          <p:cNvPr id="50" name="Text 48"/>
          <p:cNvSpPr/>
          <p:nvPr/>
        </p:nvSpPr>
        <p:spPr>
          <a:xfrm>
            <a:off x="3429000" y="4544568"/>
            <a:ext cx="7854696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&amp; OPS:  </a:t>
            </a:r>
            <a:pPr algn="l" indent="0" marL="0">
              <a:buNone/>
            </a:pPr>
            <a:r>
              <a:rPr lang="en-US" sz="100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KMS CMK per data class  ·  IAM least privilege  ·  CloudWatch  ·  X-Ray  ·  CloudTrail  ·  Security Hub + Config (21 CFR Part 11 audit)</a:t>
            </a:r>
            <a:endParaRPr lang="en-US" sz="1000" dirty="0"/>
          </a:p>
        </p:txBody>
      </p:sp>
      <p:sp>
        <p:nvSpPr>
          <p:cNvPr id="51" name="Shape 49"/>
          <p:cNvSpPr/>
          <p:nvPr/>
        </p:nvSpPr>
        <p:spPr>
          <a:xfrm>
            <a:off x="2843784" y="132588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2843784" y="13258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53" name="Shape 51"/>
          <p:cNvSpPr/>
          <p:nvPr/>
        </p:nvSpPr>
        <p:spPr>
          <a:xfrm>
            <a:off x="2843784" y="203911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2843784" y="203911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678424" y="217627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5678424" y="217627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57" name="Shape 55"/>
          <p:cNvSpPr/>
          <p:nvPr/>
        </p:nvSpPr>
        <p:spPr>
          <a:xfrm>
            <a:off x="2843784" y="2788920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2843784" y="278892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7146036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7146036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100" dirty="0"/>
          </a:p>
        </p:txBody>
      </p:sp>
      <p:sp>
        <p:nvSpPr>
          <p:cNvPr id="61" name="Shape 59"/>
          <p:cNvSpPr/>
          <p:nvPr/>
        </p:nvSpPr>
        <p:spPr>
          <a:xfrm>
            <a:off x="8705088" y="1856232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2" name="Text 60"/>
          <p:cNvSpPr/>
          <p:nvPr/>
        </p:nvSpPr>
        <p:spPr>
          <a:xfrm>
            <a:off x="8705088" y="1856232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100" dirty="0"/>
          </a:p>
        </p:txBody>
      </p:sp>
      <p:sp>
        <p:nvSpPr>
          <p:cNvPr id="63" name="Shape 61"/>
          <p:cNvSpPr/>
          <p:nvPr/>
        </p:nvSpPr>
        <p:spPr>
          <a:xfrm>
            <a:off x="11082528" y="309981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11082528" y="309981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100" dirty="0"/>
          </a:p>
        </p:txBody>
      </p:sp>
      <p:sp>
        <p:nvSpPr>
          <p:cNvPr id="65" name="Shape 63"/>
          <p:cNvSpPr/>
          <p:nvPr/>
        </p:nvSpPr>
        <p:spPr>
          <a:xfrm>
            <a:off x="8321040" y="3054096"/>
            <a:ext cx="292608" cy="292608"/>
          </a:xfrm>
          <a:prstGeom prst="ellipse">
            <a:avLst/>
          </a:prstGeom>
          <a:solidFill>
            <a:srgbClr val="FF9900"/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6" name="Text 64"/>
          <p:cNvSpPr/>
          <p:nvPr/>
        </p:nvSpPr>
        <p:spPr>
          <a:xfrm>
            <a:off x="8321040" y="3054096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32F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100" dirty="0"/>
          </a:p>
        </p:txBody>
      </p:sp>
      <p:sp>
        <p:nvSpPr>
          <p:cNvPr id="67" name="Text 65"/>
          <p:cNvSpPr/>
          <p:nvPr/>
        </p:nvSpPr>
        <p:spPr>
          <a:xfrm>
            <a:off x="548640" y="5715000"/>
            <a:ext cx="11155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900" dirty="0">
                <a:solidFill>
                  <a:srgbClr val="232F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scientist sign-in   2 SAML federation (MFA at IdP; Cognito issues JWT)   3 authenticated session to discovery console   4 ELN + internal data reads over private connectivity (least-privilege)   5 demand scales the agent workers   6 model calls stay in-VPC via Bedrock + Guardrails; internal evidence never egresses after masking   7 full provenance + decisions persisted to append-only audit   8 connectors reachable only through the governed MCP gateway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32F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FF9900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347472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Proof, Payback &amp; How to Deploy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713232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MEASURED OUTCOMES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1005840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~18 mo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1005840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novel-target → preclinical candidate (Insilico, company-reported)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1005840" y="3008376"/>
            <a:ext cx="162214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company-reported]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3465576" y="1947672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~50%</a:t>
            </a:r>
            <a:endParaRPr lang="en-US" sz="2600" dirty="0"/>
          </a:p>
        </p:txBody>
      </p:sp>
      <p:sp>
        <p:nvSpPr>
          <p:cNvPr id="10" name="Text 8"/>
          <p:cNvSpPr/>
          <p:nvPr/>
        </p:nvSpPr>
        <p:spPr>
          <a:xfrm>
            <a:off x="3465576" y="2478024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tissue-analysis time cut on AWS (AstraZeneca)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3465576" y="3008376"/>
            <a:ext cx="885139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[vendor — AWS]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005840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provenance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005840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claim linked to source — reproducibility by design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1005840" y="4215384"/>
            <a:ext cx="105521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[design property]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3465576" y="3154680"/>
            <a:ext cx="227685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FF99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~$430M</a:t>
            </a:r>
            <a:endParaRPr lang="en-US" sz="2600" dirty="0"/>
          </a:p>
        </p:txBody>
      </p:sp>
      <p:sp>
        <p:nvSpPr>
          <p:cNvPr id="16" name="Text 14"/>
          <p:cNvSpPr/>
          <p:nvPr/>
        </p:nvSpPr>
        <p:spPr>
          <a:xfrm>
            <a:off x="3465576" y="3685032"/>
            <a:ext cx="225856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98000"/>
              </a:lnSpc>
              <a:buNone/>
            </a:pPr>
            <a:r>
              <a:rPr lang="en-US" sz="1050" dirty="0">
                <a:solidFill>
                  <a:srgbClr val="C9D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 preclinical spend the workflow de-risks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3465576" y="4215384"/>
            <a:ext cx="1168603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7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[industry-research]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6409944" y="1234440"/>
            <a:ext cx="5285232" cy="3703320"/>
          </a:xfrm>
          <a:prstGeom prst="rect">
            <a:avLst/>
          </a:prstGeom>
          <a:solidFill>
            <a:srgbClr val="2E3B4E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02552" y="1435608"/>
            <a:ext cx="47365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spc="100" kern="0" dirty="0">
                <a:solidFill>
                  <a:srgbClr val="16A08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IT TAKES TO DEPLOY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6821424" y="1892808"/>
            <a:ext cx="4553712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KMS CMK + per-customer validated VPC / network.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 up Cognito SAML→JWT federation (scientist / comp-bio roles).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 with CloudFront + WAF, ALB TLS 1.3.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 the agent + grant tools via the MCP gateway (deny-by-default).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ELN + internal data; index literature/omics/patents into a Knowledge Base.</a:t>
            </a:r>
            <a:endParaRPr lang="en-US" sz="1050" dirty="0"/>
          </a:p>
          <a:p>
            <a:pPr algn="l" marL="342900" indent="-342900">
              <a:lnSpc>
                <a:spcPct val="100000"/>
              </a:lnSpc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1050" dirty="0">
                <a:solidFill>
                  <a:srgbClr val="E6EC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S3 Object Lock + append-only audit; run smoke + provenance/gate test.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6702552" y="4087368"/>
            <a:ext cx="47183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95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Deploy:  </a:t>
            </a:r>
            <a:pPr algn="l" indent="0" marL="0">
              <a:lnSpc>
                <a:spcPct val="100000"/>
              </a:lnSpc>
              <a:buNone/>
            </a:pPr>
            <a:r>
              <a:rPr lang="en-US" sz="950" i="1" dirty="0">
                <a:solidFill>
                  <a:srgbClr val="DC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agent (Documented): build per docs/CREATE-A-NEW-AGENT.md, then CloudFormation quick-deploy provisions the isolated environment + dual MCP gateway; connect ELN + index the corpus.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702552" y="4572000"/>
            <a:ext cx="47365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i="1" dirty="0">
                <a:solidFill>
                  <a:srgbClr val="9AA7B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docs/specs/10-scientific-intelligence.md (design spec — roadmap agent, Documented maturity)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713232" y="5230368"/>
            <a:ext cx="10771632" cy="841248"/>
          </a:xfrm>
          <a:prstGeom prst="rect">
            <a:avLst/>
          </a:prstGeom>
          <a:solidFill>
            <a:srgbClr val="1B2530"/>
          </a:solidFill>
          <a:ln w="12700">
            <a:solidFill>
              <a:srgbClr val="3A485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78992" y="5230368"/>
            <a:ext cx="100584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400" b="1" dirty="0">
                <a:solidFill>
                  <a:srgbClr val="FF99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takeaway:  </a:t>
            </a:r>
            <a:pPr algn="l" indent="0" marL="0">
              <a:lnSpc>
                <a:spcPct val="103000"/>
              </a:lnSpc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agent isn't the product — the governed platform that makes it 21 CFR Part 11 / GxP-defensible and deployable on AWS is.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HCLS Agent 10 — Scientific Intelligence &amp; Target Discovery</dc:title>
  <dc:subject>PptxGenJS Presentation</dc:subject>
  <dc:creator>HCLS AI Agent Suite</dc:creator>
  <cp:lastModifiedBy>HCLS AI Agent Suite</cp:lastModifiedBy>
  <cp:revision>1</cp:revision>
  <dcterms:created xsi:type="dcterms:W3CDTF">2026-06-25T22:00:55Z</dcterms:created>
  <dcterms:modified xsi:type="dcterms:W3CDTF">2026-06-25T22:00:55Z</dcterms:modified>
</cp:coreProperties>
</file>