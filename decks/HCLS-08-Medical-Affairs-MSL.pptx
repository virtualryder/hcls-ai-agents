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[00:20] Title. Agent 08 compresses MLR while making off-label a technical control. Position to the CISO/compliance around enforced off-label Guardrails and full auditability; to commercial around faster content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[00:45] Hook. MLR-is-the-bottleneck (sector, flag it), McKinsey 50–70% (industry), and the DOJ settlement figures (gov) frame both upside and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[01:10] Issue + cost. The cost slide is risk-led: billions in FCA exposure. Bright line: MLR approves before anything reaches an HCP; off-label is blocked technically.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[01:35] Pipeline. Off-label is blocked by Guardrails at draft time, not caught later. Reference annotation makes MLR faster. Human gate in 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[02:15] Architecture. Off-label content filters are mandatory at the model boundary. Customer provides CRM/DMS access, the approved label, and named MLR reviewers.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[02:45] Proof + deploy. McKinsey figures are industry-research; the off-label control is a design property, not a benchmark. Close on the takeaway.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5544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Affairs / MSL Copilot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95528" y="34290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Governed Agentic AI Reference Architecture for Life Sciences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" y="41605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08 of 8  ·  draft on-label, evidence-grounded HCP responses — MLR review approves before anything ships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5212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HCLS AI Agent Suite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5532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 ·  Built on AWS  ·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7772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WEEKS IN MLR TO DAYS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95528" y="18288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Affairs / MSL Copilot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" y="24231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governed Medical Affairs copilot that drafts on-label, evidence-grounded responses for HCP interactions with off-label guardrails enforced technically — while MLR review approves everything before it reaches a healthcare professional.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3730752"/>
            <a:ext cx="28529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weeks→months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51560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MLR review is the single biggest content-release bottleneck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5202936"/>
            <a:ext cx="13953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[sector-press/estimate]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379976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373075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50–70%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4654296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reduction in time-to-deliver for medical-legal reviews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54296" y="5202936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[industry-research — McKinsey]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982712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3730752"/>
            <a:ext cx="28529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$3B / $2.3B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57032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off-label promotion settlements (GSK / Pfizer)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57032" y="520293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 — DOJ]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 ·  Built on AWS  ·  June 2026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 &amp; The Cost of Doing Nothing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13232" y="1325880"/>
            <a:ext cx="5285232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325880"/>
            <a:ext cx="73152" cy="33832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" y="152704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2039112"/>
            <a:ext cx="45994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medical teams need rapid, on-label, evidence-grounded responses for HCP interactions.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Off-label guardrails must be technical, not procedural — a policy SOP is not a control.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MLR cycles routinely stretch from weeks into months, causing missed launch windows.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Off-label promotion is among the highest-dollar compliance risks in pharma.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9944" y="1325880"/>
            <a:ext cx="5285232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9944" y="1325880"/>
            <a:ext cx="73152" cy="33832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6729984" y="152704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E8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OF DOING NOTHING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1929384"/>
            <a:ext cx="4645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Billions in FCA risk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757416" y="26974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DOJ recovered $6.8B in total FY2025 False Claims Act recoveries (healthcare a leading category). Record off-label settlements: GSK $3B, Pfizer $2.3B, J&amp;J $2.2B, AstraZeneca $520M.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75704" y="3611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Off-label promotion liability and corporate-integrity-agreement exposure.</a:t>
            </a:r>
            <a:endParaRPr lang="en-US" sz="1200" dirty="0"/>
          </a:p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launch windows when MLR is the bottleneck.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39128" y="4434840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 — DOJ; industry-research — McKinsey]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13232" y="5029200"/>
            <a:ext cx="10771632" cy="9144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6" name="Text 14"/>
          <p:cNvSpPr/>
          <p:nvPr/>
        </p:nvSpPr>
        <p:spPr>
          <a:xfrm>
            <a:off x="1078992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line:  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drafts on-label, grounded responses within Guardrails; MLR review approves before anything reaches an HCP — off-label is blocked technically.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Solve It — A Governed Pipeline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31520" y="9692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i="1" dirty="0">
                <a:solidFill>
                  <a:srgbClr val="6B7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approved label and evidence through a scoped gateway, draft on-label responses within Guardrails — then route every response through MLR before delivery.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7782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label + evidence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7782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label/DMS via Knowledge Base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6090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0779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7238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7238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on-label response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7238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grounded; off-label blocked by Guardrails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5546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10235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6694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6694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 references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6694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linked to approved sources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5002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296912" y="1828800"/>
            <a:ext cx="1993392" cy="15544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6150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6150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GATE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6150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MLR review approves before HCP delivery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24458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491472" y="1828800"/>
            <a:ext cx="1993392" cy="155448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5606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5606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audit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65606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+ approval logged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32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32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1" name="Text 29"/>
          <p:cNvSpPr/>
          <p:nvPr/>
        </p:nvSpPr>
        <p:spPr>
          <a:xfrm>
            <a:off x="9875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audited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node, timestamp, actor, data sources, model + prompt version — append-only and inspection-ready (21 CFR Part 11).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708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708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5" name="Text 33"/>
          <p:cNvSpPr/>
          <p:nvPr/>
        </p:nvSpPr>
        <p:spPr>
          <a:xfrm>
            <a:off x="46451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&amp; explainable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634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regulated claim traces to the source corpus; Bedrock Guardrails mask PHI before any model call and bound the output.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284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0284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9" name="Text 37"/>
          <p:cNvSpPr/>
          <p:nvPr/>
        </p:nvSpPr>
        <p:spPr>
          <a:xfrm>
            <a:off x="83027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never decides what reaches an HCP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3210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consequential action is a human-only step, enforced in the orchestration framework — not a policy SOP.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Architecture &amp; Traffic Flow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331720" cy="416052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58368" y="923544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/ EXTERNAL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67512" y="1252728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280160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MSLs &amp; Medical Information teams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67512" y="1947672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975104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— Okta / Azure AD / PingID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SAML/OIDC + MFA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7512" y="2642616"/>
            <a:ext cx="2093976" cy="6400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2670048"/>
            <a:ext cx="1929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Veeva CRM + DMS / MSL portal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systems · PrivateLink / Direct Connect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7512" y="3429000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3456432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label &amp; evidence library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7512" y="4069080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PrivateLink / Direct Connect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063240" y="868680"/>
            <a:ext cx="8549640" cy="466344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172968" y="923544"/>
            <a:ext cx="8330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 — PER-CUSTOMER VPC (dedicated, validated account per customer)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27832" y="1307592"/>
            <a:ext cx="246888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337560" y="136245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8C4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/ PUBLIC SUBNET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37560" y="1673352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1700784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WAF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2148840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217627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— TLS 1.3 + Cognito auth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37560" y="2624328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265176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Cognito — SAML→JWT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97880" y="1307592"/>
            <a:ext cx="27889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007608" y="136245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SUBNET — AGENTCORE / FARGATE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07608" y="1673352"/>
            <a:ext cx="2569464" cy="40233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8" name="Text 26"/>
          <p:cNvSpPr/>
          <p:nvPr/>
        </p:nvSpPr>
        <p:spPr>
          <a:xfrm>
            <a:off x="6099048" y="1700784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task (MSL console)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07608" y="2139696"/>
            <a:ext cx="2569464" cy="40233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0" name="Text 28"/>
          <p:cNvSpPr/>
          <p:nvPr/>
        </p:nvSpPr>
        <p:spPr>
          <a:xfrm>
            <a:off x="6099048" y="2167128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agent + off-label Guardrails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07608" y="2606040"/>
            <a:ext cx="2569464" cy="402336"/>
          </a:xfrm>
          <a:prstGeom prst="rect">
            <a:avLst/>
          </a:prstGeom>
          <a:solidFill>
            <a:srgbClr val="E7157B"/>
          </a:solidFill>
          <a:ln/>
        </p:spPr>
      </p:sp>
      <p:sp>
        <p:nvSpPr>
          <p:cNvPr id="32" name="Text 30"/>
          <p:cNvSpPr/>
          <p:nvPr/>
        </p:nvSpPr>
        <p:spPr>
          <a:xfrm>
            <a:off x="6099048" y="263347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auth gateway</a:t>
            </a:r>
            <a:endParaRPr lang="en-US" sz="8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68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outbound tool calls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887968" y="1307592"/>
            <a:ext cx="23317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8997696" y="1362456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LAYER — VPC ENDPOINT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997696" y="1691640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6" name="Text 34"/>
          <p:cNvSpPr/>
          <p:nvPr/>
        </p:nvSpPr>
        <p:spPr>
          <a:xfrm>
            <a:off x="9089136" y="1719072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(analysis + draft)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997696" y="2350008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8" name="Text 36"/>
          <p:cNvSpPr/>
          <p:nvPr/>
        </p:nvSpPr>
        <p:spPr>
          <a:xfrm>
            <a:off x="9089136" y="2377440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+ content filters (mandatory)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27832" y="3246120"/>
            <a:ext cx="8220456" cy="114300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3337560" y="3300984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7AA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TIER — KMS CMK-ENCRYPTED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37560" y="3630168"/>
            <a:ext cx="1876806" cy="62179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42" name="Text 40"/>
          <p:cNvSpPr/>
          <p:nvPr/>
        </p:nvSpPr>
        <p:spPr>
          <a:xfrm>
            <a:off x="3429000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Knowledge Base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+ evidence (RAG)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378958" y="3630168"/>
            <a:ext cx="1876806" cy="621792"/>
          </a:xfrm>
          <a:prstGeom prst="rect">
            <a:avLst/>
          </a:prstGeom>
          <a:solidFill>
            <a:srgbClr val="E7157B"/>
          </a:solidFill>
          <a:ln/>
        </p:spPr>
      </p:sp>
      <p:sp>
        <p:nvSpPr>
          <p:cNvPr id="44" name="Text 42"/>
          <p:cNvSpPr/>
          <p:nvPr/>
        </p:nvSpPr>
        <p:spPr>
          <a:xfrm>
            <a:off x="5470398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audit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420356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</p:sp>
      <p:sp>
        <p:nvSpPr>
          <p:cNvPr id="46" name="Text 44"/>
          <p:cNvSpPr/>
          <p:nvPr/>
        </p:nvSpPr>
        <p:spPr>
          <a:xfrm>
            <a:off x="7511796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responses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461754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</p:sp>
      <p:sp>
        <p:nvSpPr>
          <p:cNvPr id="48" name="Text 46"/>
          <p:cNvSpPr/>
          <p:nvPr/>
        </p:nvSpPr>
        <p:spPr>
          <a:xfrm>
            <a:off x="9553194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tokens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27832" y="4544568"/>
            <a:ext cx="8220456" cy="713232"/>
          </a:xfrm>
          <a:prstGeom prst="rect">
            <a:avLst/>
          </a:prstGeom>
          <a:solidFill>
            <a:srgbClr val="1B2530"/>
          </a:solidFill>
          <a:ln/>
        </p:spPr>
      </p:sp>
      <p:sp>
        <p:nvSpPr>
          <p:cNvPr id="50" name="Text 48"/>
          <p:cNvSpPr/>
          <p:nvPr/>
        </p:nvSpPr>
        <p:spPr>
          <a:xfrm>
            <a:off x="3429000" y="4544568"/>
            <a:ext cx="7854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OPS:  </a:t>
            </a:r>
            <a:pPr algn="l" indent="0" marL="0">
              <a:buNone/>
            </a:pPr>
            <a:r>
              <a:rPr lang="en-US" sz="100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CMK per data class  ·  IAM least privilege  ·  CloudWatch  ·  X-Ray  ·  CloudTrail  ·  Security Hub + Config (21 CFR Part 11 audit)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843784" y="132588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43784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843784" y="203911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43784" y="2039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678424" y="217627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78424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843784" y="278892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43784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146036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46036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705088" y="185623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705088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1082528" y="309981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082528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321040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21040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48640" y="571500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MSL sign-in   2 SAML federation (MFA at IdP; Cognito issues JWT)   3 authenticated session to MSL console   4 CRM/DMS + label reads over private connectivity   5 demand scales the agent workers   6 model calls stay in-VPC via Bedrock + Guardrails (off-label filters mandatory)   7 every response and MLR approval persisted to append-only audit   8 connectors reachable only through the governed MCP gateway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Proof, Payback &amp; How to Deploy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3232" y="1234440"/>
            <a:ext cx="5285232" cy="37033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356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OUTCOMES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9476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50–70%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24780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MLR time-to-deliver reduction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3008376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[industry-research — McKinsey]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465576" y="19476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20–30%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65576" y="24780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medical-writing cost savings (rising as it matures)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65576" y="3008376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[industry-research — McKinsey]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005840" y="36850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off-label guardrail enforced, not procedural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4215384"/>
            <a:ext cx="1055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 property]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65576" y="31546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~$3–5B/yr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465576" y="36850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Medical Affairs efficiency industry-wide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65576" y="4215384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[industry-research — McKinsey]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409944" y="1234440"/>
            <a:ext cx="5285232" cy="37033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2552" y="14356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TAKES TO DEPLOY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21424" y="1892808"/>
            <a:ext cx="45537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KMS CMK + per-customer validated VPC / network.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Cognito SAML→JWT federation (MSL / MLR-reviewer roles).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with CloudFront + WAF, ALB TLS 1.3.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agent + grant tools via the MCP gateway (deny-by-default).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Veeva CRM/DMS; index approved label + evidence; set off-label Guardrails.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S3 Object Lock + append-only audit; run smoke + HITL (MLR) test.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02552" y="4087368"/>
            <a:ext cx="4718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 </a:t>
            </a:r>
            <a:pPr algn="l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 quick-deploy provisions the isolated environment + dual MCP gateway; connect Veeva CRM/DMS, index the approved label, and set off-label Guardrails.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02552" y="457200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aws-native-reference/08-medical-affairs-msl/DEPLOY.md  ·  docs/DEPLOY-QUICKSTART.md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3232" y="5230368"/>
            <a:ext cx="10771632" cy="841248"/>
          </a:xfrm>
          <a:prstGeom prst="rect">
            <a:avLst/>
          </a:prstGeom>
          <a:solidFill>
            <a:srgbClr val="1B2530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5230368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 </a:t>
            </a:r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isn't the product — the governed platform that makes it 21 CFR Part 11 / GxP-defensible and deployable on AWS is.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32F3E"/>
      </a:dk2>
      <a:lt2>
        <a:srgbClr val="E7E6E6"/>
      </a:lt2>
      <a:accent1>
        <a:srgbClr val="FF9900"/>
      </a:accent1>
      <a:accent2>
        <a:srgbClr val="232F3E"/>
      </a:accent2>
      <a:accent3>
        <a:srgbClr val="01A88D"/>
      </a:accent3>
      <a:accent4>
        <a:srgbClr val="8C4FFF"/>
      </a:accent4>
      <a:accent5>
        <a:srgbClr val="DD344C"/>
      </a:accent5>
      <a:accent6>
        <a:srgbClr val="ED7100"/>
      </a:accent6>
      <a:hlink>
        <a:srgbClr val="0563C1"/>
      </a:hlink>
      <a:folHlink>
        <a:srgbClr val="954F72"/>
      </a:folHlink>
    </a:clrScheme>
    <a:fontScheme name="Office">
      <a:majorFont>
        <a:latin typeface="Amazon Ember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mazon Ember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HCLS Agent 08 — Medical Affairs / MSL Copilot</dc:title>
  <dc:subject>PptxGenJS Presentation</dc:subject>
  <dc:creator>HCLS AI Agent Suite</dc:creator>
  <cp:lastModifiedBy>HCLS AI Agent Suite</cp:lastModifiedBy>
  <cp:revision>1</cp:revision>
  <dcterms:created xsi:type="dcterms:W3CDTF">2026-06-25T22:00:54Z</dcterms:created>
  <dcterms:modified xsi:type="dcterms:W3CDTF">2026-06-25T22:00:54Z</dcterms:modified>
</cp:coreProperties>
</file>