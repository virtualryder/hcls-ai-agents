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06 attacks avoidable amendments at the design stage. Position to clinical development around right-first-time protocols; to the CIO around reuse of the same grounded-RAG control plane as Agent 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All three are Tufts industry-research — strong and defensible. 57% amend / 45% avoidable / $535K / 44% complexity tell a tight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value case is avoided-amendment cost plus avoided delay days — both Tufts, labeled modeled. Bright line: clinical leads own the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Feasibility is linked to RWD so eligibility criteria are realistic. Human gate in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Same grounded-RAG spine as 01, plus an RWD feasibility link. Customer provides guidance content, historical data, and an RWD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Be candid: independent AI protocol-design ROI is not established — the value case is Tufts amendment economics.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Protocol Design &amp; Feasibility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06 of 8  ·  draft protocol sections grounded in guidance and RWD — clinical leads own the design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REWRITES TO RIGHT-FIRST-TIME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Protocol Design &amp; Feasibility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protocol copilot that drafts sections grounded in current guidance and links feasibility assumptions to real-world data — while clinical and medical leads own the design, reducing the avoidable amendments that delay every trial.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~57%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protocols incur ≥1 substantial amendment; ~45% avoidable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Tufts]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$535K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direct cost of a substantial Phase III amendment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Tufts]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~44%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 in distinct Phase II/III procedures since 2009 (complexity)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Tufts]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First-draft protocols incorporate historical guidance and study data late, driving rework.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assumptions are often not linked to real-world data, so they prove optimistic.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III protocols with ≥1 substantial amendment have risen toward ~82% in recent benchmarking.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substantial amendment adds direct cost and a 60–80-day cycle delay valued at ~$800K/day.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~$535K / amendment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preventing one avoidable Phase III amendment ≈ $535K direct (Tufts) + a ~60–80-day delay valued at ~$800K/day lost sales. ~45% of substantial amendments are avoidable.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delay cost from each amendment cycle.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and site disruption when protocols change mid-study.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Tufts 2016 amendment cost + Tufts 2024 delay-day]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drafts sections and surfaces feasibility evidence; clinical and medical leads own the protocol design — nothing is finalized unedited.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current guidance and historical/RWD evidence through a scoped gateway, draft grounded sections and feasibility — then route the design to clinical leads.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guidance + data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 guidance + historical/RWD via gateway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sections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endpoints, eligibility — grounded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feasibility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vs. RWD cohort feasibility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/ medical leads own the design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+ source lineage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protocol design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&amp; medical study leads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 (guidance) + CTMS history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RWD (feasibility)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(protocol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agent + feasibility linker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corpus (RAG)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drafts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 sign-in   2 SAML federation (MFA at IdP; Cognito issues JWT)   3 authenticated session to protocol console   4 guidance + historical/RWD reads over private connectivity   5 demand scales the agent workers   6 model calls stay in-VPC via Bedrock + Guardrails   7 every draft and source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~45%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substantial amendments are avoidable — the target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Tufts]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$535K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cost avoided per prevented Phase III amendment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Tufts]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guidance incorporated at first draft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RWD-linked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tied to real cohort sizing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(clinical / medical-lead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RIM guidance + CTMS history; connect an RWD source for feasibility.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HITL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gateway; index guidance into a Knowledge Base; connect historical + RWD sources.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aws-native-reference/06-protocol-design/DEPLOY.md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06 — Clinical Protocol Design &amp; Feasibility</dc:title>
  <dc:subject>PptxGenJS Presentation</dc:subject>
  <dc:creator>HCLS AI Agent Suite</dc:creator>
  <cp:lastModifiedBy>HCLS AI Agent Suite</cp:lastModifiedBy>
  <cp:revision>1</cp:revision>
  <dcterms:created xsi:type="dcterms:W3CDTF">2026-06-24T19:18:39Z</dcterms:created>
  <dcterms:modified xsi:type="dcterms:W3CDTF">2026-06-24T19:18:39Z</dcterms:modified>
</cp:coreProperties>
</file>