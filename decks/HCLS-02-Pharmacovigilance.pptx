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[00:20] Title. Agent 02 is the flagship live path — real Bedrock inference and a real HTTP connector run end-to-end. Position to the CISO around PHI masking before any model call, and to the CIO around a high-volume workflow with a hard physician gate.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[00:45] Hook. FAERS volume (gov) is the pain proxy; 40–85% of PV budget (sector, flag it) is the spend; Schmider's 40–70% (peer-reviewed) is the credible ROI anchor.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[01:10] Issue + cost. Lead the modeled ~$2.0M/yr intake cost with arithmetic visible. The bright line: the agent drafts the case, a safety physician owns causality and reportability.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[01:35] Pipeline. PHI is masked at step 1, before anything reaches a model. Human gate in red. The audit card matters most to PV — every coding and causality call is logged.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[02:15] Architecture. Trace the eight steps; emphasize masking happens before the model boundary. Customer provides Argus/Veeva access, MedDRA/WHO Drug licenses, and named physician approvers.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[02:45] Proof + deploy. This is the agent to demo live. Six deploy steps map to the native DEPLOY.md and the demo/ path. Close on the takeaway.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55448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Pharmacovigilance — ICSR Case Intake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95528" y="34290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Governed Agentic AI Reference Architecture for Life Sciences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04672" y="416052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9AA7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02 of 8  ·  triage, de-duplicate, MedDRA-code, and draft E2B narratives — a safety physician validates the case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04672" y="521208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HCLS AI Agent Suite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4672" y="55321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HCLS AI Agent Suite  ·  Built on AWS  ·  June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777240"/>
            <a:ext cx="10698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CASE BACKLOG TO SAME-DAY TRIAGE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95528" y="182880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Pharmacovigilance — ICSR Case Intake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" y="242316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i="1" dirty="0">
                <a:solidFill>
                  <a:srgbClr val="9AA7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governed ICSR copilot that triages intake, detects duplicates, proposes MedDRA coding, and drafts the E2B(R3) narrative — while a safety physician validates causality and the reportable case before it leaves the building.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3566160"/>
            <a:ext cx="3310128" cy="1874520"/>
          </a:xfrm>
          <a:prstGeom prst="rect">
            <a:avLst/>
          </a:prstGeom>
          <a:solidFill>
            <a:srgbClr val="2E3B4E"/>
          </a:solidFill>
          <a:ln w="12700">
            <a:solidFill>
              <a:srgbClr val="3A48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3730752"/>
            <a:ext cx="2852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~28M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1051560" y="4590288"/>
            <a:ext cx="2807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9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FAERS reports by end-2023; quarterly volume ~3× since 2007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5202936"/>
            <a:ext cx="184891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[gov/peer-reviewed — FDA FAERS]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379976" y="3566160"/>
            <a:ext cx="3310128" cy="1874520"/>
          </a:xfrm>
          <a:prstGeom prst="rect">
            <a:avLst/>
          </a:prstGeom>
          <a:solidFill>
            <a:srgbClr val="2E3B4E"/>
          </a:solidFill>
          <a:ln w="12700">
            <a:solidFill>
              <a:srgbClr val="3A48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36008" y="3730752"/>
            <a:ext cx="2852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40–85%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4654296" y="4590288"/>
            <a:ext cx="2807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9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PV budgets consumed by case intake &amp; processing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54296" y="5202936"/>
            <a:ext cx="139537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[sector-press/estimate]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7982712" y="3566160"/>
            <a:ext cx="3310128" cy="1874520"/>
          </a:xfrm>
          <a:prstGeom prst="rect">
            <a:avLst/>
          </a:prstGeom>
          <a:solidFill>
            <a:srgbClr val="2E3B4E"/>
          </a:solidFill>
          <a:ln w="12700">
            <a:solidFill>
              <a:srgbClr val="3A48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38744" y="3730752"/>
            <a:ext cx="2852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40–70%</a:t>
            </a:r>
            <a:endParaRPr lang="en-US" sz="3300" dirty="0"/>
          </a:p>
        </p:txBody>
      </p:sp>
      <p:sp>
        <p:nvSpPr>
          <p:cNvPr id="16" name="Text 14"/>
          <p:cNvSpPr/>
          <p:nvPr/>
        </p:nvSpPr>
        <p:spPr>
          <a:xfrm>
            <a:off x="8257032" y="4590288"/>
            <a:ext cx="2807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9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data-entry time cut in a Pfizer AI/RPA pilot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57032" y="5202936"/>
            <a:ext cx="2075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[gov/peer-reviewed — Schmider 2019]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HCLS AI Agent Suite  ·  Built on AWS  ·  June 2026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Issue &amp; The Cost of Doing Nothing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713232" y="1325880"/>
            <a:ext cx="5285232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325880"/>
            <a:ext cx="73152" cy="338328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6" name="Text 4"/>
          <p:cNvSpPr/>
          <p:nvPr/>
        </p:nvSpPr>
        <p:spPr>
          <a:xfrm>
            <a:off x="1033272" y="1527048"/>
            <a:ext cx="4645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100" kern="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ISSUE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78992" y="2039112"/>
            <a:ext cx="45994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Adverse-event volumes scale with portfolio breadth; intake is high-volume and time-critical.</a:t>
            </a:r>
            <a:endParaRPr lang="en-US" sz="130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Triage, duplicate detection, MedDRA coding, and E2B narrative drafting are repetitive and regulated.</a:t>
            </a:r>
            <a:endParaRPr lang="en-US" sz="130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processing consumes up to two-thirds of internal PV resources; median ~69 min per report.</a:t>
            </a:r>
            <a:endParaRPr lang="en-US" sz="130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ICSR volumes are growing ~8–15%/year — the backlog compounds without automation.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9944" y="1325880"/>
            <a:ext cx="5285232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9944" y="1325880"/>
            <a:ext cx="73152" cy="338328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0" name="Text 8"/>
          <p:cNvSpPr/>
          <p:nvPr/>
        </p:nvSpPr>
        <p:spPr>
          <a:xfrm>
            <a:off x="6729984" y="1527048"/>
            <a:ext cx="4645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100" kern="0" dirty="0">
                <a:solidFill>
                  <a:srgbClr val="E8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COST OF DOING NOTHING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720840" y="1929384"/>
            <a:ext cx="46451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~$2.0M / yr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757416" y="269748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Modeled: 100,000 cases/yr × ~$20 outsourced intake/case = ~$2.0M/yr before internal labor. Intake/processing is 40–85% of PV budget; ~8–15% annual volume growth.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775704" y="36118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or missed expedited reporting — regulatory and patient-safety exposure.</a:t>
            </a:r>
            <a:endParaRPr lang="en-US" sz="1200" dirty="0"/>
          </a:p>
          <a:p>
            <a:pPr algn="l"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inconsistency that undermines signal detection across the portfolio.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739128" y="4434840"/>
            <a:ext cx="196230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[modeled + sector-press/estimate]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713232" y="5029200"/>
            <a:ext cx="10771632" cy="91440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16" name="Text 14"/>
          <p:cNvSpPr/>
          <p:nvPr/>
        </p:nvSpPr>
        <p:spPr>
          <a:xfrm>
            <a:off x="1078992" y="50292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design line:  </a:t>
            </a:r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triages, de-duplicates, codes, and drafts; a qualified safety physician validates causality and the reportable case before submission.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HCLS AI Agent Suite · Governed Agentic AI on AWS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4747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Solve It — A Governed Pipeline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731520" y="969264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00" i="1" dirty="0">
                <a:solidFill>
                  <a:srgbClr val="6B77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 case data through a scoped gateway, propose triage / dedupe / MedDRA coding and draft the narrative — then stop at a safety-physician gate before reporting.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13232" y="1828800"/>
            <a:ext cx="1993392" cy="1554480"/>
          </a:xfrm>
          <a:prstGeom prst="rect">
            <a:avLst/>
          </a:prstGeom>
          <a:solidFill>
            <a:srgbClr val="16A085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77824" y="19385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77824" y="2359152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 &amp; mask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77824" y="2889504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EA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sources via gateway; PHI masked first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660904" y="2404872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907792" y="1828800"/>
            <a:ext cx="1993392" cy="1554480"/>
          </a:xfrm>
          <a:prstGeom prst="rect">
            <a:avLst/>
          </a:prstGeom>
          <a:solidFill>
            <a:srgbClr val="16A085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072384" y="19385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072384" y="2359152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Triage &amp; dedupe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072384" y="2889504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EA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seriousness, expectedness, duplicate detection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55464" y="2404872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102352" y="1828800"/>
            <a:ext cx="1993392" cy="1554480"/>
          </a:xfrm>
          <a:prstGeom prst="rect">
            <a:avLst/>
          </a:prstGeom>
          <a:solidFill>
            <a:srgbClr val="16A085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266944" y="19385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266944" y="2359152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&amp; draft E2B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266944" y="2889504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EA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MedDRA coding + E2B(R3) narrative draft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050024" y="2404872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296912" y="1828800"/>
            <a:ext cx="1993392" cy="1554480"/>
          </a:xfrm>
          <a:prstGeom prst="rect">
            <a:avLst/>
          </a:prstGeom>
          <a:solidFill>
            <a:srgbClr val="C0392B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461504" y="19385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61504" y="2359152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GATE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461504" y="2889504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EA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physician validates causality &amp; case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244584" y="2404872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9491472" y="1828800"/>
            <a:ext cx="1993392" cy="1554480"/>
          </a:xfrm>
          <a:prstGeom prst="rect">
            <a:avLst/>
          </a:prstGeom>
          <a:solidFill>
            <a:srgbClr val="232F3E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656064" y="19385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656064" y="2359152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Append-only audit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656064" y="2889504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EA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logged to immutable store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13232" y="3840480"/>
            <a:ext cx="3456432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13232" y="3840480"/>
            <a:ext cx="64008" cy="146304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1" name="Text 29"/>
          <p:cNvSpPr/>
          <p:nvPr/>
        </p:nvSpPr>
        <p:spPr>
          <a:xfrm>
            <a:off x="987552" y="4023360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action audited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005840" y="4517136"/>
            <a:ext cx="2907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node, timestamp, actor, data sources, model + prompt version — append-only and inspection-ready (21 CFR Part 11).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370832" y="3840480"/>
            <a:ext cx="3456432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370832" y="3840480"/>
            <a:ext cx="64008" cy="146304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5" name="Text 33"/>
          <p:cNvSpPr/>
          <p:nvPr/>
        </p:nvSpPr>
        <p:spPr>
          <a:xfrm>
            <a:off x="4645152" y="4023360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&amp; explainable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663440" y="4517136"/>
            <a:ext cx="2907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regulated claim traces to the source corpus; Bedrock Guardrails mask PHI before any model call and bound the output.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028432" y="3840480"/>
            <a:ext cx="3456432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8028432" y="3840480"/>
            <a:ext cx="64008" cy="146304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9" name="Text 37"/>
          <p:cNvSpPr/>
          <p:nvPr/>
        </p:nvSpPr>
        <p:spPr>
          <a:xfrm>
            <a:off x="8302752" y="4023360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never decides the reportable case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8321040" y="4517136"/>
            <a:ext cx="2907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consequential action is a human-only step, enforced in the orchestration framework — not a policy SOP.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HCLS AI Agent Suite · Governed Agentic AI on AWS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Architecture &amp; Traffic Flow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2331720" cy="4160520"/>
          </a:xfrm>
          <a:prstGeom prst="rect">
            <a:avLst/>
          </a:prstGeom>
          <a:ln w="12700">
            <a:solidFill>
              <a:srgbClr val="9AA7B4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658368" y="923544"/>
            <a:ext cx="2112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 / EXTERNAL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67512" y="1252728"/>
            <a:ext cx="2093976" cy="54864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7" name="Text 5"/>
          <p:cNvSpPr/>
          <p:nvPr/>
        </p:nvSpPr>
        <p:spPr>
          <a:xfrm>
            <a:off x="758952" y="1280160"/>
            <a:ext cx="19293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operations &amp; physicians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67512" y="1947672"/>
            <a:ext cx="2093976" cy="54864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9" name="Text 7"/>
          <p:cNvSpPr/>
          <p:nvPr/>
        </p:nvSpPr>
        <p:spPr>
          <a:xfrm>
            <a:off x="758952" y="1975104"/>
            <a:ext cx="19293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 — Okta / Azure AD / PingID</a:t>
            </a:r>
            <a:endParaRPr lang="en-US" sz="85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5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SAML/OIDC + MFA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67512" y="2642616"/>
            <a:ext cx="2093976" cy="64008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11" name="Text 9"/>
          <p:cNvSpPr/>
          <p:nvPr/>
        </p:nvSpPr>
        <p:spPr>
          <a:xfrm>
            <a:off x="758952" y="2670048"/>
            <a:ext cx="19293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Argus / Veeva Safety</a:t>
            </a:r>
            <a:endParaRPr lang="en-US" sz="85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0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systems · PrivateLink / Direct Connect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67512" y="3429000"/>
            <a:ext cx="2093976" cy="54864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13" name="Text 11"/>
          <p:cNvSpPr/>
          <p:nvPr/>
        </p:nvSpPr>
        <p:spPr>
          <a:xfrm>
            <a:off x="758952" y="3456432"/>
            <a:ext cx="19293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MedDRA · WHO Drug dictionaries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67512" y="4069080"/>
            <a:ext cx="2093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PrivateLink / Direct Connect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063240" y="868680"/>
            <a:ext cx="8549640" cy="4663440"/>
          </a:xfrm>
          <a:prstGeom prst="rect">
            <a:avLst/>
          </a:prstGeom>
          <a:ln w="12700">
            <a:solidFill>
              <a:srgbClr val="9AA7B4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3172968" y="923544"/>
            <a:ext cx="8330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CLOUD — PER-CUSTOMER VPC (dedicated, validated account per customer)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27832" y="1307592"/>
            <a:ext cx="2468880" cy="1783080"/>
          </a:xfrm>
          <a:prstGeom prst="rect">
            <a:avLst/>
          </a:prstGeom>
          <a:ln w="12700">
            <a:solidFill>
              <a:srgbClr val="9AA7B4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3337560" y="1362456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8C4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/ PUBLIC SUBNET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37560" y="1673352"/>
            <a:ext cx="2249424" cy="402336"/>
          </a:xfrm>
          <a:prstGeom prst="rect">
            <a:avLst/>
          </a:prstGeom>
          <a:solidFill>
            <a:srgbClr val="8C4FFF"/>
          </a:solidFill>
          <a:ln/>
        </p:spPr>
      </p:sp>
      <p:sp>
        <p:nvSpPr>
          <p:cNvPr id="20" name="Text 18"/>
          <p:cNvSpPr/>
          <p:nvPr/>
        </p:nvSpPr>
        <p:spPr>
          <a:xfrm>
            <a:off x="3429000" y="1700784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CloudFront + WAF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337560" y="2148840"/>
            <a:ext cx="2249424" cy="402336"/>
          </a:xfrm>
          <a:prstGeom prst="rect">
            <a:avLst/>
          </a:prstGeom>
          <a:solidFill>
            <a:srgbClr val="8C4FFF"/>
          </a:solidFill>
          <a:ln/>
        </p:spPr>
      </p:sp>
      <p:sp>
        <p:nvSpPr>
          <p:cNvPr id="22" name="Text 20"/>
          <p:cNvSpPr/>
          <p:nvPr/>
        </p:nvSpPr>
        <p:spPr>
          <a:xfrm>
            <a:off x="3429000" y="2176272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 — TLS 1.3 + Cognito auth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337560" y="2624328"/>
            <a:ext cx="2249424" cy="402336"/>
          </a:xfrm>
          <a:prstGeom prst="rect">
            <a:avLst/>
          </a:prstGeom>
          <a:solidFill>
            <a:srgbClr val="8C4FFF"/>
          </a:solidFill>
          <a:ln/>
        </p:spPr>
      </p:sp>
      <p:sp>
        <p:nvSpPr>
          <p:cNvPr id="24" name="Text 22"/>
          <p:cNvSpPr/>
          <p:nvPr/>
        </p:nvSpPr>
        <p:spPr>
          <a:xfrm>
            <a:off x="3429000" y="2651760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Cognito — SAML→JWT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897880" y="1307592"/>
            <a:ext cx="2788920" cy="1783080"/>
          </a:xfrm>
          <a:prstGeom prst="rect">
            <a:avLst/>
          </a:prstGeom>
          <a:ln w="12700">
            <a:solidFill>
              <a:srgbClr val="9AA7B4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6007608" y="1362456"/>
            <a:ext cx="2569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SUBNET — AGENTCORE / FARGATE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007608" y="1673352"/>
            <a:ext cx="2569464" cy="402336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28" name="Text 26"/>
          <p:cNvSpPr/>
          <p:nvPr/>
        </p:nvSpPr>
        <p:spPr>
          <a:xfrm>
            <a:off x="6099048" y="1700784"/>
            <a:ext cx="2404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task (case console)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007608" y="2139696"/>
            <a:ext cx="2569464" cy="402336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0" name="Text 28"/>
          <p:cNvSpPr/>
          <p:nvPr/>
        </p:nvSpPr>
        <p:spPr>
          <a:xfrm>
            <a:off x="6099048" y="2167128"/>
            <a:ext cx="2404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Triage/code agent + PHI masker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007608" y="2606040"/>
            <a:ext cx="2569464" cy="402336"/>
          </a:xfrm>
          <a:prstGeom prst="rect">
            <a:avLst/>
          </a:prstGeom>
          <a:solidFill>
            <a:srgbClr val="E7157B"/>
          </a:solidFill>
          <a:ln/>
        </p:spPr>
      </p:sp>
      <p:sp>
        <p:nvSpPr>
          <p:cNvPr id="32" name="Text 30"/>
          <p:cNvSpPr/>
          <p:nvPr/>
        </p:nvSpPr>
        <p:spPr>
          <a:xfrm>
            <a:off x="6099048" y="2633472"/>
            <a:ext cx="2404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auth gateway</a:t>
            </a:r>
            <a:endParaRPr lang="en-US" sz="80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68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outbound tool calls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8887968" y="1307592"/>
            <a:ext cx="2331720" cy="1783080"/>
          </a:xfrm>
          <a:prstGeom prst="rect">
            <a:avLst/>
          </a:prstGeom>
          <a:ln w="12700">
            <a:solidFill>
              <a:srgbClr val="9AA7B4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8997696" y="1362456"/>
            <a:ext cx="2112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LAYER — VPC ENDPOINT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8997696" y="1691640"/>
            <a:ext cx="2112264" cy="566928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36" name="Text 34"/>
          <p:cNvSpPr/>
          <p:nvPr/>
        </p:nvSpPr>
        <p:spPr>
          <a:xfrm>
            <a:off x="9089136" y="1719072"/>
            <a:ext cx="1947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Bedrock</a:t>
            </a:r>
            <a:endParaRPr lang="en-US" sz="90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5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(analysis + draft)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8997696" y="2350008"/>
            <a:ext cx="2112264" cy="566928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38" name="Text 36"/>
          <p:cNvSpPr/>
          <p:nvPr/>
        </p:nvSpPr>
        <p:spPr>
          <a:xfrm>
            <a:off x="9089136" y="2377440"/>
            <a:ext cx="1947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Guardrails</a:t>
            </a:r>
            <a:endParaRPr lang="en-US" sz="90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0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 + content filters (mandatory)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227832" y="3246120"/>
            <a:ext cx="8220456" cy="1143000"/>
          </a:xfrm>
          <a:prstGeom prst="rect">
            <a:avLst/>
          </a:prstGeom>
          <a:ln w="12700">
            <a:solidFill>
              <a:srgbClr val="9AA7B4"/>
            </a:solidFill>
            <a:prstDash val="dash"/>
          </a:ln>
        </p:spPr>
      </p:sp>
      <p:sp>
        <p:nvSpPr>
          <p:cNvPr id="40" name="Text 38"/>
          <p:cNvSpPr/>
          <p:nvPr/>
        </p:nvSpPr>
        <p:spPr>
          <a:xfrm>
            <a:off x="3337560" y="3300984"/>
            <a:ext cx="8001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7AA1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TIER — KMS CMK-ENCRYPTED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337560" y="3630168"/>
            <a:ext cx="1876806" cy="621792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42" name="Text 40"/>
          <p:cNvSpPr/>
          <p:nvPr/>
        </p:nvSpPr>
        <p:spPr>
          <a:xfrm>
            <a:off x="3429000" y="3657600"/>
            <a:ext cx="17122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DB connector</a:t>
            </a:r>
            <a:endParaRPr lang="en-US" sz="85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0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Argus / Veeva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378958" y="3630168"/>
            <a:ext cx="1876806" cy="621792"/>
          </a:xfrm>
          <a:prstGeom prst="rect">
            <a:avLst/>
          </a:prstGeom>
          <a:solidFill>
            <a:srgbClr val="E7157B"/>
          </a:solidFill>
          <a:ln/>
        </p:spPr>
      </p:sp>
      <p:sp>
        <p:nvSpPr>
          <p:cNvPr id="44" name="Text 42"/>
          <p:cNvSpPr/>
          <p:nvPr/>
        </p:nvSpPr>
        <p:spPr>
          <a:xfrm>
            <a:off x="5470398" y="3657600"/>
            <a:ext cx="17122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 audit</a:t>
            </a:r>
            <a:endParaRPr lang="en-US" sz="85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0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7420356" y="3630168"/>
            <a:ext cx="1876806" cy="621792"/>
          </a:xfrm>
          <a:prstGeom prst="rect">
            <a:avLst/>
          </a:prstGeom>
          <a:solidFill>
            <a:srgbClr val="7AA116"/>
          </a:solidFill>
          <a:ln/>
        </p:spPr>
      </p:sp>
      <p:sp>
        <p:nvSpPr>
          <p:cNvPr id="46" name="Text 44"/>
          <p:cNvSpPr/>
          <p:nvPr/>
        </p:nvSpPr>
        <p:spPr>
          <a:xfrm>
            <a:off x="7511796" y="3657600"/>
            <a:ext cx="17122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Object Lock</a:t>
            </a:r>
            <a:endParaRPr lang="en-US" sz="85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0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WORM case records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9461754" y="3630168"/>
            <a:ext cx="1876806" cy="621792"/>
          </a:xfrm>
          <a:prstGeom prst="rect">
            <a:avLst/>
          </a:prstGeom>
          <a:solidFill>
            <a:srgbClr val="7AA116"/>
          </a:solidFill>
          <a:ln/>
        </p:spPr>
      </p:sp>
      <p:sp>
        <p:nvSpPr>
          <p:cNvPr id="48" name="Text 46"/>
          <p:cNvSpPr/>
          <p:nvPr/>
        </p:nvSpPr>
        <p:spPr>
          <a:xfrm>
            <a:off x="9553194" y="3657600"/>
            <a:ext cx="17122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Manager</a:t>
            </a:r>
            <a:endParaRPr lang="en-US" sz="85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0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tokens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227832" y="4544568"/>
            <a:ext cx="8220456" cy="713232"/>
          </a:xfrm>
          <a:prstGeom prst="rect">
            <a:avLst/>
          </a:prstGeom>
          <a:solidFill>
            <a:srgbClr val="1B2530"/>
          </a:solidFill>
          <a:ln/>
        </p:spPr>
      </p:sp>
      <p:sp>
        <p:nvSpPr>
          <p:cNvPr id="50" name="Text 48"/>
          <p:cNvSpPr/>
          <p:nvPr/>
        </p:nvSpPr>
        <p:spPr>
          <a:xfrm>
            <a:off x="3429000" y="4544568"/>
            <a:ext cx="78546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OPS:  </a:t>
            </a:r>
            <a:pPr algn="l" indent="0" marL="0">
              <a:buNone/>
            </a:pPr>
            <a:r>
              <a:rPr lang="en-US" sz="1000" dirty="0">
                <a:solidFill>
                  <a:srgbClr val="E6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KMS CMK per data class  ·  IAM least privilege  ·  CloudWatch  ·  X-Ray  ·  CloudTrail  ·  Security Hub + Config (21 CFR Part 11 audit)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843784" y="1325880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843784" y="1325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2843784" y="2039112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843784" y="20391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5678424" y="2176272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678424" y="21762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2843784" y="2788920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843784" y="2788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7146036" y="3054096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146036" y="30540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8705088" y="1856232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705088" y="18562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11082528" y="3099816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1082528" y="30998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8321040" y="3054096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321040" y="30540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548640" y="571500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9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safety-ops sign-in   2 SAML federation (MFA at IdP; Cognito issues JWT)   3 authenticated session to case console   4 safety DB + dictionary reads over private connectivity   5 case volume scales the agent workers   6 model calls stay in-VPC via Bedrock + Guardrails (PHI masked first)   7 every triage/coding/causality decision persisted to append-only audit   8 connectors reachable only through the governed MCP gateway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4747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Proof, Payback &amp; How to Deploy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13232" y="1234440"/>
            <a:ext cx="5285232" cy="3703320"/>
          </a:xfrm>
          <a:prstGeom prst="rect">
            <a:avLst/>
          </a:prstGeom>
          <a:solidFill>
            <a:srgbClr val="2E3B4E"/>
          </a:solidFill>
          <a:ln w="12700">
            <a:solidFill>
              <a:srgbClr val="3A48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435608"/>
            <a:ext cx="4736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00" kern="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OUTCOMES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1947672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40–70%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005840" y="2478024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C9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data-entry time cut (Pfizer pilot)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05840" y="3008376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[gov/peer-reviewed — Schmider]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465576" y="1947672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10–30%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465576" y="2478024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C9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 cost savings with GenAI/automation deployed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465576" y="3008376"/>
            <a:ext cx="116860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[industry-research]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005840" y="3154680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to 2/3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005840" y="3685032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C9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internal PV resources today go to case processing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005840" y="4215384"/>
            <a:ext cx="116860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[gov/peer-reviewed]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465576" y="3154680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~69 min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465576" y="3685032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C9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processing per report today — the target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465576" y="4215384"/>
            <a:ext cx="116860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[gov/peer-reviewed]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409944" y="1234440"/>
            <a:ext cx="5285232" cy="3703320"/>
          </a:xfrm>
          <a:prstGeom prst="rect">
            <a:avLst/>
          </a:prstGeom>
          <a:solidFill>
            <a:srgbClr val="2E3B4E"/>
          </a:solidFill>
          <a:ln w="12700">
            <a:solidFill>
              <a:srgbClr val="3A48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02552" y="1435608"/>
            <a:ext cx="4736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00" kern="0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TAKES TO DEPLOY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821424" y="1892808"/>
            <a:ext cx="455371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0000"/>
              </a:lnSpc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E6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 KMS CMK + per-customer validated VPC / network.</a:t>
            </a:r>
            <a:endParaRPr lang="en-US" sz="1050" dirty="0"/>
          </a:p>
          <a:p>
            <a:pPr algn="l" marL="342900" indent="-342900">
              <a:lnSpc>
                <a:spcPct val="100000"/>
              </a:lnSpc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E6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Cognito SAML→JWT federation (safety-ops / physician roles).</a:t>
            </a:r>
            <a:endParaRPr lang="en-US" sz="1050" dirty="0"/>
          </a:p>
          <a:p>
            <a:pPr algn="l" marL="342900" indent="-342900">
              <a:lnSpc>
                <a:spcPct val="100000"/>
              </a:lnSpc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E6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with CloudFront + WAF, ALB TLS 1.3.</a:t>
            </a:r>
            <a:endParaRPr lang="en-US" sz="1050" dirty="0"/>
          </a:p>
          <a:p>
            <a:pPr algn="l" marL="342900" indent="-342900">
              <a:lnSpc>
                <a:spcPct val="100000"/>
              </a:lnSpc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E6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agent + grant tools via the MCP gateway (deny-by-default).</a:t>
            </a:r>
            <a:endParaRPr lang="en-US" sz="1050" dirty="0"/>
          </a:p>
          <a:p>
            <a:pPr algn="l" marL="342900" indent="-342900">
              <a:lnSpc>
                <a:spcPct val="100000"/>
              </a:lnSpc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E6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Argus/Veeva Safety + MedDRA/WHO Drug; enable PHI masker.</a:t>
            </a:r>
            <a:endParaRPr lang="en-US" sz="1050" dirty="0"/>
          </a:p>
          <a:p>
            <a:pPr algn="l" marL="342900" indent="-342900">
              <a:lnSpc>
                <a:spcPct val="100000"/>
              </a:lnSpc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E6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S3 Object Lock + append-only audit; run the live end-to-end demo path.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702552" y="4087368"/>
            <a:ext cx="4718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Deploy:  </a:t>
            </a:r>
            <a:pPr algn="l" indent="0" marL="0">
              <a:lnSpc>
                <a:spcPct val="100000"/>
              </a:lnSpc>
              <a:buNone/>
            </a:pPr>
            <a:r>
              <a:rPr lang="en-US" sz="950" i="1" dirty="0">
                <a:solidFill>
                  <a:srgbClr val="DC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CloudFormation quick-deploy provisions the isolated environment + dual MCP gateway; Agent 02 ships a live Bedrock + real-connector reference path you can run end-to-end.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702552" y="4572000"/>
            <a:ext cx="4736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aws-native-reference/02-pharmacovigilance/DEPLOY.md  ·  docs/DEPLOY-QUICKSTART.md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13232" y="5230368"/>
            <a:ext cx="10771632" cy="841248"/>
          </a:xfrm>
          <a:prstGeom prst="rect">
            <a:avLst/>
          </a:prstGeom>
          <a:solidFill>
            <a:srgbClr val="1B2530"/>
          </a:solidFill>
          <a:ln w="12700">
            <a:solidFill>
              <a:srgbClr val="3A48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78992" y="5230368"/>
            <a:ext cx="10058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takeaway:  </a:t>
            </a:r>
            <a:pPr algn="l"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isn't the product — the governed platform that makes it 21 CFR Part 11 / GxP-defensible and deployable on AWS is.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32F3E"/>
      </a:dk2>
      <a:lt2>
        <a:srgbClr val="E7E6E6"/>
      </a:lt2>
      <a:accent1>
        <a:srgbClr val="FF9900"/>
      </a:accent1>
      <a:accent2>
        <a:srgbClr val="232F3E"/>
      </a:accent2>
      <a:accent3>
        <a:srgbClr val="01A88D"/>
      </a:accent3>
      <a:accent4>
        <a:srgbClr val="8C4FFF"/>
      </a:accent4>
      <a:accent5>
        <a:srgbClr val="DD344C"/>
      </a:accent5>
      <a:accent6>
        <a:srgbClr val="ED7100"/>
      </a:accent6>
      <a:hlink>
        <a:srgbClr val="0563C1"/>
      </a:hlink>
      <a:folHlink>
        <a:srgbClr val="954F72"/>
      </a:folHlink>
    </a:clrScheme>
    <a:fontScheme name="Office">
      <a:majorFont>
        <a:latin typeface="Amazon Ember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mazon Ember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HCLS Agent 02 — Pharmacovigilance — ICSR Case Intake</dc:title>
  <dc:subject>PptxGenJS Presentation</dc:subject>
  <dc:creator>HCLS AI Agent Suite</dc:creator>
  <cp:lastModifiedBy>HCLS AI Agent Suite</cp:lastModifiedBy>
  <cp:revision>1</cp:revision>
  <dcterms:created xsi:type="dcterms:W3CDTF">2026-06-25T22:00:54Z</dcterms:created>
  <dcterms:modified xsi:type="dcterms:W3CDTF">2026-06-25T22:00:54Z</dcterms:modified>
</cp:coreProperties>
</file>