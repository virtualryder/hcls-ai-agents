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room: you are the CIO / CISO / Director of Architecture, and your job is to tell the board honestly what this is and is not. Lead with the verdict so no one waits for the punchline: a governed accelerator that compresses an SI-led build, NOT a shrink-wrapped, computer-system-validated product you switch on. The decision you ask for at the end is approval to fund a Phase-1 pilot on the lowest-risk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slide if you only had one. Three columns: what you buy, what you still build, why the trade is right. Reset the SaaS expectation calmly — the value is acceleration of an SI build, not elimination of one. If pushed 'so it's not finished?' agree plainly: correct, and that is normal for governed AI touching regulated GxP records in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ladder to set honest expectations. The suite is genuinely at Demonstrated and Deployable-by-design: code runs, 452 tests pass with no API key, IaC validates. The bright line is rung 4 — Production-ready — explicitly the engagement (CSV/CSA validation, live connectors, pen test), not a day-one deliverable. The 452 passing tests are your strongest credibility point: governance is in code and tested, not slideware.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that gets your CISO, QA head, and regulatory lead to lean in. Key message: controls live in the gateway, OUTSIDE the model — a prompt injection cannot disable deny-by-default, the HITL gate, the audit trail, or PHI masking. Emphasize the intersection rule and that the HITL gate fails closed. Close on the bright line: the agent never decides causality, reportability, what's submitted, CAPA disposition, patient eligibility, or what reaches an HCP.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this slide. Putting the shortfalls on screen yourself is what makes the rest credible. Three buckets: (1) integration — live connectors, reviewer UI — the bulk of the engagement, gated on your systems; (2) infrastructure-as-code to finish — AgentCore registration, observability, KB ingestion; (3) the things only YOU can finish — CSV/CSA validation, no cert, cost/accuracy validation, change-control under your quality system. 'Isn't this a lot?' Yes — and it's the same list for ANY governed AI build; the difference is here it's written down and scoped.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eight questions a diligent board should make you answer before signing. Present them as YOUR checklist — it signals you are driving the evaluation. The two highest-friction items: IdP claim mapping (reviewer-role expression) and the CSV/CSA validation plan, which is the regulated production gate. Cost: model the Bedrock run-rate, not just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 — walk it slowly. Three owners: User (staff operating the agents), Customer (sponsor IT/security/QA/regulatory), Developer/SI. A filled cell = Responsible/Accountable. Dwell on: Identity &amp; access is sponsor-owned (your IdP, your role policy); Connectors &amp; data is shared R/A — both must act. Every 'Customer R/A' cell is an accountability you cannot delegate to the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is where sponsor accountability is heaviest — model governance, validation, and the HITL gate. HITL operations is the row where User lights up R/A: the staff who approve consequential actions are accountable for those approvals. Validation: stress the CSV/CSA gate and that final sign-off is yours. If asked 'can't the SI own all of this?' — no. GxP accountability, what counts as consequential, and reviewer staffing are sponsor responsibilities by regulation and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closes on day-to-day operations, change, and people. Throughline of all three matrix slides: the SI builds and operates the technical controls; the sponsor makes every regulated determination and owns the quality system. Incident &amp; deviation: the SI contains and produces evidence; the reportability decision is yours. Change management: nothing reaches production without your sign-off — exactly the control a CISO/QA head wants.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shortfalls slide turned into a plan — same items, now with an owner and a place in the sequence. Three streams: integration (live connectors, reviewer UI) is the bulk of the engagement, gated on your systems; infrastructure-as-code (edge, observability, KB ingestion); and assurance (CSV/CSA validation, pen test, production-readiness review) which converts 'Deployable' to 'Production-ready.' Cedar/OPA export lets your own security team review the authorization model in a standard policy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adoption path de-risks the decision: you are not betting on eight agents at once. Land with the four document- and case-centric agents (01/02/03/08) and prove the gateway, PHI masking, audit, and HITL gate. Agent 02 is the best live demo — it ships a real Bedrock + connector path. Only after Phase 1 clears its gate do you add reportability/design agents (05/06), then the de-identified-RWD agents (04/07). Advancement is earned with evidence, not scheduled by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decisively. Two columns so the board sees a conditional yes with clear criteria. GO if leadership can commit to: a funded SI engagement, owning the quality program/IdP/reviewers, a phased pilot, budget for CSV/CSA + pen test, and validating Bedrock cost/accuracy. NO-GO if any disqualifier holds — especially expecting a turnkey product or expecting the vendor to take GxP accountability. Then ask for the specific decision: approval to fund a Phase-1 pilot on 01/02/03/08. Smallest viable yes: a single-agent pilot on Agent 02 (live path).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32C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04" y="822228"/>
            <a:ext cx="403799" cy="403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6766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Review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CIO / CISO / Director of Architecture perspective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32C5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882896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VERDICT, UP FRONT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 a governed accelerator to compress an SI-led build — not as a turnkey, validated product.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6053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governed agents · AWS-native · 21 CFR Part 11 / GxP · GVP/E2B · HIPAA · FDA AI guidance (Jan 2025) · NIST AI RMF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UP FRONT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it as a governed accelerator — not a finished product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2971800"/>
          </a:xfrm>
          <a:prstGeom prst="roundRect">
            <a:avLst>
              <a:gd name="adj" fmla="val 3077"/>
            </a:avLst>
          </a:prstGeom>
          <a:solidFill>
            <a:srgbClr val="232C5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2611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986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are buying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355848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spine in code + 452 tests, AWS deployment runbooks, and a reference architecture (dual MCP gateway, in-VPC Bedrock, HITL, audit). It hands an SI a compliant, auditable starting point across 8 life-sciences workflows.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529584" cy="2971800"/>
          </a:xfrm>
          <a:prstGeom prst="roundRect">
            <a:avLst>
              <a:gd name="adj" fmla="val 3077"/>
            </a:avLst>
          </a:prstGeom>
          <a:solidFill>
            <a:srgbClr val="232C5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075688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12" y="226112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8986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still build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90872" y="3355848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Veeva / Argus / Medidata / QMS connectors, the reviewer UI, IdP federation, computer-system validation (CSV/CSA), and a penetration test. This is an engagement, not an install.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529584" cy="2971800"/>
          </a:xfrm>
          <a:prstGeom prst="roundRect">
            <a:avLst>
              <a:gd name="adj" fmla="val 3077"/>
            </a:avLst>
          </a:prstGeom>
          <a:solidFill>
            <a:srgbClr val="232C5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2075688"/>
            <a:ext cx="713232" cy="7132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784" y="226112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8986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is the right buy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67344" y="3355848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the hard, slow, risky part — governed access, HITL, audit, PHI masking, grounding — off your critical path. You compress months of SI build while keeping GxP / 21 CFR Part 11 accountability where it belongs: with you.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08792" cy="1170432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</p:spPr>
      </p:sp>
      <p:sp>
        <p:nvSpPr>
          <p:cNvPr id="20" name="Text 15"/>
          <p:cNvSpPr/>
          <p:nvPr/>
        </p:nvSpPr>
        <p:spPr>
          <a:xfrm>
            <a:off x="960120" y="5138928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350" dirty="0">
                <a:solidFill>
                  <a:srgbClr val="12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funded Phase-1 pilot on the lowest-decision-risk agents. Prove the gateway, audit, PHI masking, and HITL gate in production, then expand. Do not present this to the board as a product you can turn on next week.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maturity ladder — positioned honestly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943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5A648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09344"/>
            <a:ext cx="566928" cy="566928"/>
          </a:xfrm>
          <a:prstGeom prst="ellipse">
            <a:avLst/>
          </a:prstGeom>
          <a:solidFill>
            <a:srgbClr val="5A648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1328" y="1508760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workflow &amp; compliance design written and reviewed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5943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8833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587752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in demo mode — deterministic fixtures, no API key (452 tests green)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5943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767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67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366674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+ Terraform + container contract pass CI; needs your AWS account + Bedrock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594360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846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81328" y="4745736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CSV/CSA validation, IdP, live connectors, pen test — the engagement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55040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B5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LINE — the engagement starts here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48463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04304" y="16276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0" y="1770278"/>
            <a:ext cx="263347" cy="26334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680960" y="1673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today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22592" y="2212848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spine in code + 452 passing tests (gateway intersection, HITL, PHI masking, grounding, red-team) — no API key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Empty-account-to-running CloudFormation quick-deploy: connector Lambdas + dual MCP gateway + native/container agent; Terraform parity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reference path (Agent 02): real Bedrock + real HTTP connector, end-to-end; Strands + Step Functions waitForTaskToken HITL</a:t>
            </a:r>
            <a:endParaRPr lang="en-US" sz="1030" dirty="0"/>
          </a:p>
        </p:txBody>
      </p:sp>
      <p:sp>
        <p:nvSpPr>
          <p:cNvPr id="27" name="Shape 24"/>
          <p:cNvSpPr/>
          <p:nvPr/>
        </p:nvSpPr>
        <p:spPr>
          <a:xfrm>
            <a:off x="6766560" y="3767328"/>
            <a:ext cx="4846320" cy="2212848"/>
          </a:xfrm>
          <a:prstGeom prst="roundRect">
            <a:avLst>
              <a:gd name="adj" fmla="val 3719"/>
            </a:avLst>
          </a:prstGeom>
          <a:solidFill>
            <a:srgbClr val="EEF2F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04304" y="39776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50" y="4120286"/>
            <a:ext cx="263347" cy="263347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6809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starting point, not finished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022592" y="45720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connectors run on fixtures; production validation against Veeva / Argus / Medidata / QMS is yours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managed-gateway registration uses customer-supplied custom-resource placeholders; reviewer UI is an SI build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computer-system validation (CSV/CSA) package of its own, no SOC 2 / 3rd-party cert, no pen-tested production surface yet</a:t>
            </a:r>
            <a:endParaRPr lang="en-US" sz="1030" dirty="0"/>
          </a:p>
        </p:txBody>
      </p:sp>
      <p:sp>
        <p:nvSpPr>
          <p:cNvPr id="32" name="Text 28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or QA / regulatory lead can say yes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Governance-first: the controls are enforced in the gateway, outside the model — a prompt cannot turn them off.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002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97" y="2149937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19842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Deny-by-default gateway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56946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permitted(tool) = agent-grant ∩ user-entitlement. An agent can never exceed the human it acts for. Denies on a missing subject.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4297680" y="178308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2002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537" y="214993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9842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Framework-enforced HITL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17136" y="256946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block as PENDING_APPROVAL until a named, correctly-roled reviewer binds identity (21 CFR Part 11 e-signature). Fails closed on timeout.</a:t>
            </a:r>
            <a:endParaRPr lang="en-US" sz="96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66176" y="2002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77" y="214993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19842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66176" y="256946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WORM. Every ALLOW / DENY / PENDING / ERROR logged with lineage — Part 11 / ALCOA+ recordkeeping.</a:t>
            </a:r>
            <a:endParaRPr lang="en-US" sz="960" dirty="0"/>
          </a:p>
        </p:txBody>
      </p:sp>
      <p:sp>
        <p:nvSpPr>
          <p:cNvPr id="21" name="Shape 16"/>
          <p:cNvSpPr/>
          <p:nvPr/>
        </p:nvSpPr>
        <p:spPr>
          <a:xfrm>
            <a:off x="548640" y="342900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" y="36484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97" y="3795857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363016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 / PII masking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68096" y="421538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identifiers replaced with stable pseudonyms before any prompt or audit record. Stateless, runs before every gateway call.</a:t>
            </a:r>
            <a:endParaRPr lang="en-US" sz="960" dirty="0"/>
          </a:p>
        </p:txBody>
      </p:sp>
      <p:sp>
        <p:nvSpPr>
          <p:cNvPr id="26" name="Shape 20"/>
          <p:cNvSpPr/>
          <p:nvPr/>
        </p:nvSpPr>
        <p:spPr>
          <a:xfrm>
            <a:off x="4297680" y="342900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17136" y="36484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537" y="3795857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792" y="363016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verification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17136" y="421538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/ entity in a regulated artifact must trace to the source corpus; grounding fails fast rather than asserting a hallucinated claim.</a:t>
            </a:r>
            <a:endParaRPr lang="en-US" sz="960" dirty="0"/>
          </a:p>
        </p:txBody>
      </p:sp>
      <p:sp>
        <p:nvSpPr>
          <p:cNvPr id="31" name="Shape 24"/>
          <p:cNvSpPr/>
          <p:nvPr/>
        </p:nvSpPr>
        <p:spPr>
          <a:xfrm>
            <a:off x="8046720" y="3429000"/>
            <a:ext cx="358444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66176" y="36484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577" y="3795857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42832" y="363016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/ diversity screen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266176" y="4215384"/>
            <a:ext cx="3172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 flags on proposed cohorts (FDA Diversity Action Plan posture); outcomes routed to human review — no automated adverse action.</a:t>
            </a:r>
            <a:endParaRPr lang="en-US" sz="960" dirty="0"/>
          </a:p>
        </p:txBody>
      </p:sp>
      <p:sp>
        <p:nvSpPr>
          <p:cNvPr id="36" name="Shape 28"/>
          <p:cNvSpPr/>
          <p:nvPr/>
        </p:nvSpPr>
        <p:spPr>
          <a:xfrm>
            <a:off x="548640" y="5138928"/>
            <a:ext cx="11091672" cy="1078992"/>
          </a:xfrm>
          <a:prstGeom prst="roundRect">
            <a:avLst>
              <a:gd name="adj" fmla="val 5932"/>
            </a:avLst>
          </a:prstGeom>
          <a:solidFill>
            <a:srgbClr val="1E2761"/>
          </a:solidFill>
          <a:ln/>
        </p:spPr>
      </p:sp>
      <p:sp>
        <p:nvSpPr>
          <p:cNvPr id="37" name="Shape 29"/>
          <p:cNvSpPr/>
          <p:nvPr/>
        </p:nvSpPr>
        <p:spPr>
          <a:xfrm>
            <a:off x="749808" y="5340096"/>
            <a:ext cx="676656" cy="67665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39" y="5516027"/>
            <a:ext cx="324795" cy="32479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554480" y="5248656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life-sciences regulatory stack: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GxP / ALCOA+ · GVP / ICH E2B(R3) · ICH E6(R3) GCP · HIPAA / de-identification · FDA AI guidance (Jan 2025) · EMA AI reflection paper · NIST AI RMF. The bright line — causality, reportability, what is submitted, CAPA disposition, patient eligibility, what reaches an HCP — is never decided by the agent.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 — open risks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directly from the deployment reference's own “gaps / what you must add” callouts. None are hidden; all are scoped.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3852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38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17904" y="188366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connectors are fixtures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17904" y="218541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/ Argus / Medidata / QMS run on deterministic fixtures; live validation against your systems is the engagement.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17920" y="175564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93852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C25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938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87184" y="188366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CSV/CSA package yet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87184" y="218541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(IQ/OQ/PQ) is the regulated production gate; the suite ships the design, not the executed package.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294436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12724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17904" y="307238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UI is your build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17904" y="337413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HITL gate + queue ship; the screen a safety physician / writer / MLR reviewer uses to approve is a customer/SI build.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17920" y="294436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312724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87184" y="307238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= placeholders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87184" y="337413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&amp; Runtime register via customer-supplied custom-resource Lambdas; portable gateway mode is the fallback.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8640" y="413308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431596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3159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17904" y="426110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to author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17904" y="45628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/ dashboards are per-environment; runbooks assume alarms and CloudTrail config you finalize.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217920" y="413308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431596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43159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87184" y="426110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ingestion partial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87184" y="45628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 ingestion IaC is a stub to build out per corpus (guidance, label, SOPs).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48640" y="532180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" y="550468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67A6E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50468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17904" y="544982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 · cost · accuracy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17904" y="575157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 2 / 3rd-party cert. Bedrock model cost &amp; clinical accuracy must be validated against your data.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217920" y="5321808"/>
            <a:ext cx="541324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550468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67A6E"/>
          </a:solidFill>
          <a:ln/>
        </p:spPr>
      </p:sp>
      <p:sp>
        <p:nvSpPr>
          <p:cNvPr id="43" name="Text 41"/>
          <p:cNvSpPr/>
          <p:nvPr/>
        </p:nvSpPr>
        <p:spPr>
          <a:xfrm>
            <a:off x="6382512" y="550468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87184" y="544982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control is process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87184" y="575157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8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model promotion change-control is framework-supported but operated by you under your quality system.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to answer before you adopt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934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75199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90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 &amp; GxP terms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17320" y="18013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Region? Does it meet data-localization and GxP data-integrity requirements? Are the controls Part 11-aligned in the vendor agreement?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60934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751990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490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DPA / BAA in place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086600" y="18013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Data-processing / business-associate agreement executed; vendor TPRM questionnaire signed off before any live patient or safety record is touched.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2551176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9315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267004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 federation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2980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your IdP (Okta / Entra / Ping) express the reviewer roles (writer / safety physician / CRA / MLR)? Cognito ↔ IdP claim mapping is the most common readiness gap.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17920" y="2551176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2788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293156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267004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/ validation plan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86600" y="2980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computer-system validation (IQ/OQ/PQ) and the validation lifecycle? Plan it before any GxP go-live.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3730752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396849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111142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384962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41732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pen test of the deployed surface is a production-readiness gate — budget and schedule it before go-live.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17920" y="3730752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00800" y="396849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4111142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86600" y="384962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cost of ownership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08660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inference + infra + SI delivery. Model the run-rate, not just the build; set Budgets + Cost Anomaly Detection on Bedrock.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910328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31520" y="5148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290718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50292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maintenance model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417320" y="53400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prompt/model change control, patching, and the managed-service SLA after the SI hands off?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217920" y="4910328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400800" y="5148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446" y="5290718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86600" y="50292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Model-drift monitoring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7086600" y="53400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watches grounding-failure rate, Guardrail block rate, and eval regression once it is live, and on what cadence?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MATRIX  ·  PART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— platform, identity, security,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0" y="365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 = Responsible / Accountable   ·   C/I = Consulted / Informed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170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SI — deploys &amp; maintains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124358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895344" y="11704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sponsor IT / security / QA / regulatory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243584"/>
            <a:ext cx="182880" cy="182880"/>
          </a:xfrm>
          <a:prstGeom prst="ellipse">
            <a:avLst/>
          </a:prstGeom>
          <a:solidFill>
            <a:srgbClr val="5A6485"/>
          </a:solidFill>
          <a:ln/>
        </p:spPr>
      </p:sp>
      <p:sp>
        <p:nvSpPr>
          <p:cNvPr id="11" name="Text 9"/>
          <p:cNvSpPr/>
          <p:nvPr/>
        </p:nvSpPr>
        <p:spPr>
          <a:xfrm>
            <a:off x="7552944" y="1170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staff operating the agents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91056"/>
          <a:ext cx="1109167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1828800"/>
                <a:gridCol w="292608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(sponsor)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/ 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infrastructure — accounts, network, KMS,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 — IdP, Cognito federation, IAM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 — GxP / Part 11 program, audits, pen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 &amp; data — Veeva/Argus/Medidata integration, data quality, KB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3101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two parties show R/A, the control only holds if both act — e.g. the SI builds the connector; the sponsor provides credentials, approves scopes, and validates against the live, validated system.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" y="4041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4184294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2646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infra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8638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designs &amp; deploys the VPC, KMS, and data plane per the templates; your cloud team approves network &amp; key policy and owns the CMK. Edge hardening is finalized for production.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429768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17136" y="4041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4184294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53542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IdP is yours — reviewer-role definitions (writer / safety physician / CRA / MLR) are sponsor policy. The SI implements the Cognito claim mapping; you own its accuracy.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804672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66176" y="4041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41842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2454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&amp; data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28446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connector points at a live system without your scope approval and a signed pilot SOW. Stale or wrong KB content is a sponsor risk; the SI implements change control.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MATRIX  ·  PART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— model, validation, human-in-the-loop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0" y="365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 = Responsible / Accountable   ·   C/I = Consulted / Informed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170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SI — deploys &amp; maintains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124358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895344" y="11704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sponsor IT / security / QA / regulatory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243584"/>
            <a:ext cx="182880" cy="182880"/>
          </a:xfrm>
          <a:prstGeom prst="ellipse">
            <a:avLst/>
          </a:prstGeom>
          <a:solidFill>
            <a:srgbClr val="5A6485"/>
          </a:solidFill>
          <a:ln/>
        </p:spPr>
      </p:sp>
      <p:sp>
        <p:nvSpPr>
          <p:cNvPr id="11" name="Text 9"/>
          <p:cNvSpPr/>
          <p:nvPr/>
        </p:nvSpPr>
        <p:spPr>
          <a:xfrm>
            <a:off x="7552944" y="1170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staff operating the agents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91056"/>
          <a:ext cx="1109167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1828800"/>
                <a:gridCol w="292608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(sponsor)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/ 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guardrails — Bedrock access, Guardrails tuning, eval &amp; change-control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— CSV/CSA (IQ/OQ/PQ) testing &amp;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operations — approving consequential actions, reviewer roster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UI / HITL handoff surface — build &amp; operate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3101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gate is the bright line. The SI builds it; the sponsor staffs it with qualified, correctly-roled reviewers (e.g. a safety physician for causality) — this cannot be delegated to the SI.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" y="404164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4184294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2646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guardrails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8638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 recommends &amp; implements per-agent Guardrail policy, prompt pinning, and the eval harness; your quality, safety &amp; regulatory leadership approve it, and a named reviewer signs off promotions under change control.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429768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17136" y="404164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4184294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(CSV/CSA)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53542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is a production-readiness gate, not optional. The SI supports IQ/OQ/PQ during the engagement; you own the validation lifecycle and final sign-off in your quality system.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804672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66176" y="404164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41842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2454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operations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28446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are approved by your named, correctly-roled reviewers (regulatory writer / safety physician / CRA / MLR). The SI runs the technical gate; you define what counts as “consequential.”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MATRIX  ·  PART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— operations, change, training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0" y="365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 = Responsible / Accountable   ·   C/I = Consulted / Informed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170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SI — deploys &amp; maintains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124358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895344" y="11704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sponsor IT / security / QA / regulatory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243584"/>
            <a:ext cx="182880" cy="182880"/>
          </a:xfrm>
          <a:prstGeom prst="ellipse">
            <a:avLst/>
          </a:prstGeom>
          <a:solidFill>
            <a:srgbClr val="5A6485"/>
          </a:solidFill>
          <a:ln/>
        </p:spPr>
      </p:sp>
      <p:sp>
        <p:nvSpPr>
          <p:cNvPr id="11" name="Text 9"/>
          <p:cNvSpPr/>
          <p:nvPr/>
        </p:nvSpPr>
        <p:spPr>
          <a:xfrm>
            <a:off x="7552944" y="1170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staff operating the agents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91056"/>
          <a:ext cx="1109167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1828800"/>
                <a:gridCol w="292608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(sponsor)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/ 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&amp; monitoring — alarms, dashboards, run-rate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&amp; deviation response — detection, containment,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 — prompt / model upgrades, production promotion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SOPs — staff enablement, the bright line, acceptable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3101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Operationally: the SI builds and runs the technical controls; the sponsor makes every regulated determination — deviation/CAPA, production sign-off, and SOP enforcement under its quality system.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" y="404164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4184294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2646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monitoring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8638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thresholds, pager routing, and retention windows are sponsor-owned; the SI builds the dashboards and runs managed-service operations against your SLAs.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429768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17136" y="404164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4184294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&amp; deviation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53542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 executes the runbook, produces audit evidence, and notifies you fast; you make the regulated determination — deviation, CAPA, and any reportability to authorities — under your quality system.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8046720" y="3822192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66176" y="404164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41842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24544" y="40599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&amp; training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284464" y="4663440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prompt, model, or tool-grant change reaches production without your sign-off under change control. You own the SOPs and train staff on what the agent does and does not decide; the SI supplies capability docs.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BACKLOG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to be done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93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75199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90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connectors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17320" y="18013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adapters for live Veeva (RIM/Vault/CRM), Argus/Veeva Safety, Medidata, and QMS (TrackWise).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6093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751990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490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/ CSA package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086600" y="18013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IQ/OQ/PQ validation and the traceability matrix under the sponsor's quality system.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2551176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9315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267004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ingestion pipeline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2980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 ingestion IaC built out from the stub per corpus (guidance, label, SOPs), grounding wired in.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17920" y="2551176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293156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267004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+ observability IaC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86600" y="2980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/ WAF hardening and CloudWatch alarms + dashboards authored per environment.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3730752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3968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111142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384962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 / OPA policy export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41732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gateway authorization model to a standard policy engine for external review &amp; reuse.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17920" y="3730752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00800" y="3968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4111142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86600" y="384962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08660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pen test of the deployed surface — a production-readiness gate.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910328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31520" y="5148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290718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50292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UI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417320" y="53400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HITL approve/reject surface that authenticates the reviewer and binds the e-signature into the record.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217920" y="4910328"/>
            <a:ext cx="5413248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400800" y="5148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446" y="5290718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86600" y="50292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Production-readiness review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7086600" y="53400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&amp; quality review, IdP integration tested, and sponsor acceptance sign-off.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ADOPTION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low-risk, prove the controls, then expand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50447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64208" y="1764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— land here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64208" y="212140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decision-risk, highest visibility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2889504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Regulatory Writing · 02 Pharmacovigilance (live path) · 03 Trial Ops/TMF · 08 Medical Affairs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PHASE GATE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396849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gateway, PHI masking, audit trail, and HITL gate in production. Measure cycle-time and reviewer throughput.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4146804" y="2939796"/>
            <a:ext cx="155448" cy="292608"/>
          </a:xfrm>
          <a:prstGeom prst="rtTriangle">
            <a:avLst/>
          </a:prstGeom>
          <a:solidFill>
            <a:srgbClr val="5A648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06824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73736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144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22392" y="1764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— on evidence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422392" y="212140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Higher-value, higher-governance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81144" y="267004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81144" y="2889504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Quality / CAPA · 06 Protocol Design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81144" y="374904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PHASE GATE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81144" y="396849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that touch reportability and study design — only after eval, grounding, and audit are proven in production.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7904988" y="2939796"/>
            <a:ext cx="155448" cy="292608"/>
          </a:xfrm>
          <a:prstGeom prst="rtTriangle">
            <a:avLst/>
          </a:prstGeom>
          <a:solidFill>
            <a:srgbClr val="5A648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65008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1737360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180576" y="1764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 — at scale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80576" y="212140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&amp; continuous assurance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39328" y="267004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39328" y="2889504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under change control · de-identified-RWD agents 04 / 07 · model-drift monitoring · annual pen 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39328" y="374904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PHASE GATE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39328" y="396849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operations with named reviewers, alarms, and a production-readiness review behind each promotion.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956048"/>
            <a:ext cx="11091672" cy="1207008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175504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5375209"/>
            <a:ext cx="368686" cy="36868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664208" y="5084064"/>
            <a:ext cx="9829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advances only when the prior clears its gate — clean audit trail, HITL gate exercised on real approvals, measured cycle-time, and a security/quality sign-off. Best demo entry point: Agent 02 (Pharmacovigilance) — the only agent with a live Bedrock + real-connector path you can run end-to-end. Safest document start: Agent 01.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5288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Infrastructure &amp; Adoption Review  ·  Governed accelerator, not a turnkey certified product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657600" cy="3657600"/>
          </a:xfrm>
          <a:prstGeom prst="ellipse">
            <a:avLst/>
          </a:prstGeom>
          <a:solidFill>
            <a:srgbClr val="232C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 criteria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232C57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47672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23" y="2104583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9344" y="198424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if you can commit to…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271576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funded SI-led engagement, not a product purchase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GxP / Part 11 quality program, IdP, and reviewer roster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scoped to Agents 01 / 02 / 03 / 08 with phase gates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CSV/CSA validation + a pen test before go-live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Bedrock cost &amp; clinical accuracy against your own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91072" y="16916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232C57"/>
          </a:solidFill>
          <a:ln w="19050">
            <a:solidFill>
              <a:srgbClr val="C2543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47104" y="1947672"/>
            <a:ext cx="603504" cy="603504"/>
          </a:xfrm>
          <a:prstGeom prst="ellipse">
            <a:avLst/>
          </a:prstGeom>
          <a:solidFill>
            <a:srgbClr val="C25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015" y="2104583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0336" y="198424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 / wait if…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271576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certified, turnkey product to switch on now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budget or partner for SI delivery &amp; maintenance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IdP cannot express the reviewer roles and there is no plan to fix it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expect the vendor to assume GxP / Part 11 accountability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staff qualified HITL reviewers (e.g. a safety physician)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5138928"/>
            <a:ext cx="11000232" cy="1170432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5230368"/>
            <a:ext cx="10332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2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funded Phase-1 pilot on Agents 01 / 02 / 03 / 08. It compresses an SI-led build with a governance spine your CISO and QA/regulatory leadership can stand behind — while you keep GxP / Part 11 accountability and prove the controls in production before expanding.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AI Agent Suite — Infrastructure &amp; Adoption Review</dc:title>
  <dc:subject>PptxGenJS Presentation</dc:subject>
  <dc:creator>HCLS AI Agent Suite</dc:creator>
  <cp:lastModifiedBy>HCLS AI Agent Suite</cp:lastModifiedBy>
  <cp:revision>1</cp:revision>
  <dcterms:created xsi:type="dcterms:W3CDTF">2026-06-24T19:18:41Z</dcterms:created>
  <dcterms:modified xsi:type="dcterms:W3CDTF">2026-06-24T19:18:41Z</dcterms:modified>
</cp:coreProperties>
</file>