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[00:20] Title. Agent 03 turns periodic TMF QC into continuous readiness. Position to the CIO as event-driven automation on the shared control plane; to clinical ops as fewer post-lock surprises.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[00:45] Hook. Tufts $800K/day is the strongest number in the suite — lead with it. Veeva 57% paper and JAMA $19.0M median set the operational reality.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[01:10] Issue + cost. The modeled ~$25.7M 30-day-slip figure shows arithmetic. Note explicitly that we use Tufts 2024, not the discredited $4–8M/day myth. Bright line: the CRA owns the disposition.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[01:35] Pipeline. The key word is continuous — EventBridge drives ongoing checks rather than a pre-lock scramble. Human gate in 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[02:15] Architecture. Note the EventBridge-driven worker for continuous monitoring. Customer provides eTMF/EDC/CTMS access and named approvers.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[02:45] Proof + deploy. Veeva's 1M-doc bot is vendor-reported and flagged. Close on continuous readiness and the platform-is-the-product takeaway.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55448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Trial Ops &amp; TMF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95528" y="34290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Governed Agentic AI Reference Architecture for Life Sciences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04672" y="41605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9AA7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03 of 8  ·  surface TMF gaps and EDC query backlog continuously — a CRA approves every disposition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04672" y="52120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HCLS AI Agent Suite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" y="55321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HCLS AI Agent Suite  ·  Built on AWS  ·  June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777240"/>
            <a:ext cx="10698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LATE SURPRISES TO CONTINUOUS READINESS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95528" y="182880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Trial Ops &amp; TMF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" y="242316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i="1" dirty="0">
                <a:solidFill>
                  <a:srgbClr val="9AA7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governed trial-ops copilot that monitors TMF completeness and EDC query backlog continuously and drafts the work — while a CRA or TMF owner approves every filing, query, and closure, keeping the trial inspection-ready by design.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3566160"/>
            <a:ext cx="3310128" cy="1874520"/>
          </a:xfrm>
          <a:prstGeom prst="rect">
            <a:avLst/>
          </a:prstGeom>
          <a:solidFill>
            <a:srgbClr val="2E3B4E"/>
          </a:solidFill>
          <a:ln w="12700">
            <a:solidFill>
              <a:srgbClr val="3A48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3730752"/>
            <a:ext cx="285292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~$800K / day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051560" y="4590288"/>
            <a:ext cx="2807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lost/delayed sales per day of trial delay (+ ~$40K/day direct cost)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5202936"/>
            <a:ext cx="190561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[gov/peer-reviewed — Tufts 2024]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379976" y="3566160"/>
            <a:ext cx="3310128" cy="1874520"/>
          </a:xfrm>
          <a:prstGeom prst="rect">
            <a:avLst/>
          </a:prstGeom>
          <a:solidFill>
            <a:srgbClr val="2E3B4E"/>
          </a:solidFill>
          <a:ln w="12700">
            <a:solidFill>
              <a:srgbClr val="3A48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36008" y="3730752"/>
            <a:ext cx="2852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4654296" y="4590288"/>
            <a:ext cx="2807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TMF owners still rely on paper / simple e-file systems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54296" y="5202936"/>
            <a:ext cx="162214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[industry-research — Veeva]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7982712" y="3566160"/>
            <a:ext cx="3310128" cy="1874520"/>
          </a:xfrm>
          <a:prstGeom prst="rect">
            <a:avLst/>
          </a:prstGeom>
          <a:solidFill>
            <a:srgbClr val="2E3B4E"/>
          </a:solidFill>
          <a:ln w="12700">
            <a:solidFill>
              <a:srgbClr val="3A48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38744" y="3730752"/>
            <a:ext cx="2852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$19.0M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8257032" y="4590288"/>
            <a:ext cx="2807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pivotal-trial cost (IQR $12.2M–$33.1M)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57032" y="5202936"/>
            <a:ext cx="173553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[gov/peer-reviewed — JAMA IM]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HCLS AI Agent Suite  ·  Built on AWS  ·  June 2026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Issue &amp; The Cost of Doing Nothing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713232" y="1325880"/>
            <a:ext cx="5285232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325880"/>
            <a:ext cx="73152" cy="338328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6" name="Text 4"/>
          <p:cNvSpPr/>
          <p:nvPr/>
        </p:nvSpPr>
        <p:spPr>
          <a:xfrm>
            <a:off x="1033272" y="1527048"/>
            <a:ext cx="4645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100" kern="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ISSUE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8992" y="2039112"/>
            <a:ext cx="45994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TMF gaps surface late — often after database lock, when they are most expensive to fix.</a:t>
            </a:r>
            <a:endParaRPr lang="en-US" sz="130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EDC query backlogs slow enrollment and data cleaning; completeness is continuous, not periodic.</a:t>
            </a:r>
            <a:endParaRPr lang="en-US" sz="130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“Failure to maintain adequate/accurate case histories” is among the most common FDA BIMO 483 findings.</a:t>
            </a:r>
            <a:endParaRPr lang="en-US" sz="130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Advanced-eTMF users report inspection readiness of 56% vs. 25% — tooling gap is measurable.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9944" y="1325880"/>
            <a:ext cx="5285232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9944" y="1325880"/>
            <a:ext cx="73152" cy="338328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0" name="Text 8"/>
          <p:cNvSpPr/>
          <p:nvPr/>
        </p:nvSpPr>
        <p:spPr>
          <a:xfrm>
            <a:off x="6729984" y="1527048"/>
            <a:ext cx="4645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100" kern="0" dirty="0">
                <a:solidFill>
                  <a:srgbClr val="E8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COST OF DOING NOTHING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20840" y="1929384"/>
            <a:ext cx="46451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~$25.7M / slip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757416" y="269748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Modeled: a 30-day database-lock / TMF slip on one Phase III ≈ 30 × ($800K lost sales + $55,716 direct/day) ≈ ~$25.7M. Tufts 2024 supersedes the old “$4–8M/day” figure.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775704" y="36118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findings and refuse-to-file risk from an incomplete TMF.</a:t>
            </a:r>
            <a:endParaRPr lang="en-US" sz="1200" dirty="0"/>
          </a:p>
          <a:p>
            <a:pPr algn="l"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and lock delays compounding the per-day cost of delay.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739128" y="4434840"/>
            <a:ext cx="34363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[modeled — Tufts 2024 day-of-delay × Phase III direct cost]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713232" y="5029200"/>
            <a:ext cx="10771632" cy="9144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6" name="Text 14"/>
          <p:cNvSpPr/>
          <p:nvPr/>
        </p:nvSpPr>
        <p:spPr>
          <a:xfrm>
            <a:off x="1078992" y="50292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line:  </a:t>
            </a:r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detects gaps and drafts queries; a CRA or TMF owner approves every filing, query, and closure — the disposition is human-owned.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HCLS AI Agent Suite · Governed Agentic AI on AWS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4747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Solve It — A Governed Pipeline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731520" y="969264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00" i="1" dirty="0">
                <a:solidFill>
                  <a:srgbClr val="6B77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Continuously read eTMF/EDC/CTMS through a scoped gateway, detect gaps and draft queries — then route every disposition to a human gate.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13232" y="1828800"/>
            <a:ext cx="1993392" cy="1554480"/>
          </a:xfrm>
          <a:prstGeom prst="rect">
            <a:avLst/>
          </a:prstGeom>
          <a:solidFill>
            <a:srgbClr val="16A085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77824" y="19385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77824" y="2359152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read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77824" y="2889504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eTMF / EDC / CTMS via gateway connectors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660904" y="2404872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907792" y="1828800"/>
            <a:ext cx="1993392" cy="1554480"/>
          </a:xfrm>
          <a:prstGeom prst="rect">
            <a:avLst/>
          </a:prstGeom>
          <a:solidFill>
            <a:srgbClr val="16A085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072384" y="19385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072384" y="2359152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gaps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072384" y="2889504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 model vs. TMF reference model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55464" y="2404872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102352" y="1828800"/>
            <a:ext cx="1993392" cy="1554480"/>
          </a:xfrm>
          <a:prstGeom prst="rect">
            <a:avLst/>
          </a:prstGeom>
          <a:solidFill>
            <a:srgbClr val="16A085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266944" y="19385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66944" y="2359152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queries/actions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266944" y="2889504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 filings, queries, follow-ups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050024" y="2404872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296912" y="1828800"/>
            <a:ext cx="1993392" cy="1554480"/>
          </a:xfrm>
          <a:prstGeom prst="rect">
            <a:avLst/>
          </a:prstGeom>
          <a:solidFill>
            <a:srgbClr val="C0392B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461504" y="19385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61504" y="2359152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GATE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461504" y="2889504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 / TMF owner approves disposition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244584" y="2404872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491472" y="1828800"/>
            <a:ext cx="1993392" cy="1554480"/>
          </a:xfrm>
          <a:prstGeom prst="rect">
            <a:avLst/>
          </a:prstGeom>
          <a:solidFill>
            <a:srgbClr val="232F3E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656064" y="19385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656064" y="2359152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Append-only audit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656064" y="2889504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logged to immutable store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13232" y="3840480"/>
            <a:ext cx="3456432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13232" y="3840480"/>
            <a:ext cx="64008" cy="146304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1" name="Text 29"/>
          <p:cNvSpPr/>
          <p:nvPr/>
        </p:nvSpPr>
        <p:spPr>
          <a:xfrm>
            <a:off x="987552" y="402336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action audited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05840" y="4517136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node, timestamp, actor, data sources, model + prompt version — append-only and inspection-ready (21 CFR Part 11).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370832" y="3840480"/>
            <a:ext cx="3456432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370832" y="3840480"/>
            <a:ext cx="64008" cy="146304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5" name="Text 33"/>
          <p:cNvSpPr/>
          <p:nvPr/>
        </p:nvSpPr>
        <p:spPr>
          <a:xfrm>
            <a:off x="4645152" y="402336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&amp; explainable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663440" y="4517136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regulated claim traces to the source corpus; Bedrock Guardrails mask PHI before any model call and bound the output.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028432" y="3840480"/>
            <a:ext cx="3456432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028432" y="3840480"/>
            <a:ext cx="64008" cy="146304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9" name="Text 37"/>
          <p:cNvSpPr/>
          <p:nvPr/>
        </p:nvSpPr>
        <p:spPr>
          <a:xfrm>
            <a:off x="8302752" y="402336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never decides the TMF/query disposition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321040" y="4517136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consequential action is a human-only step, enforced in the orchestration framework — not a policy SOP.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HCLS AI Agent Suite · Governed Agentic AI on AWS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Architecture &amp; Traffic Flow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2331720" cy="4160520"/>
          </a:xfrm>
          <a:prstGeom prst="rect">
            <a:avLst/>
          </a:prstGeom>
          <a:ln w="12700">
            <a:solidFill>
              <a:srgbClr val="9AA7B4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658368" y="923544"/>
            <a:ext cx="2112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 / EXTERNAL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67512" y="1252728"/>
            <a:ext cx="2093976" cy="54864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" y="1280160"/>
            <a:ext cx="19293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CRAs, CTAs &amp; TMF owners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67512" y="1947672"/>
            <a:ext cx="2093976" cy="54864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9" name="Text 7"/>
          <p:cNvSpPr/>
          <p:nvPr/>
        </p:nvSpPr>
        <p:spPr>
          <a:xfrm>
            <a:off x="758952" y="1975104"/>
            <a:ext cx="19293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— Okta / Azure AD / PingID</a:t>
            </a:r>
            <a:endParaRPr lang="en-US" sz="8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5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SAML/OIDC + MFA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67512" y="2642616"/>
            <a:ext cx="2093976" cy="64008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1" name="Text 9"/>
          <p:cNvSpPr/>
          <p:nvPr/>
        </p:nvSpPr>
        <p:spPr>
          <a:xfrm>
            <a:off x="758952" y="2670048"/>
            <a:ext cx="19293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Veeva eTMF + CTMS + EDC</a:t>
            </a:r>
            <a:endParaRPr lang="en-US" sz="8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systems · PrivateLink / Direct Connect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67512" y="3429000"/>
            <a:ext cx="2093976" cy="54864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3" name="Text 11"/>
          <p:cNvSpPr/>
          <p:nvPr/>
        </p:nvSpPr>
        <p:spPr>
          <a:xfrm>
            <a:off x="758952" y="3456432"/>
            <a:ext cx="19293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TMF Reference Model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67512" y="4069080"/>
            <a:ext cx="2093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PrivateLink / Direct Connect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063240" y="868680"/>
            <a:ext cx="8549640" cy="4663440"/>
          </a:xfrm>
          <a:prstGeom prst="rect">
            <a:avLst/>
          </a:prstGeom>
          <a:ln w="12700">
            <a:solidFill>
              <a:srgbClr val="9AA7B4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3172968" y="923544"/>
            <a:ext cx="8330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CLOUD — PER-CUSTOMER VPC (dedicated, validated account per customer)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27832" y="1307592"/>
            <a:ext cx="2468880" cy="1783080"/>
          </a:xfrm>
          <a:prstGeom prst="rect">
            <a:avLst/>
          </a:prstGeom>
          <a:ln w="12700">
            <a:solidFill>
              <a:srgbClr val="9AA7B4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3337560" y="1362456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8C4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/ PUBLIC SUBNET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37560" y="1673352"/>
            <a:ext cx="2249424" cy="402336"/>
          </a:xfrm>
          <a:prstGeom prst="rect">
            <a:avLst/>
          </a:prstGeom>
          <a:solidFill>
            <a:srgbClr val="8C4FFF"/>
          </a:solidFill>
          <a:ln/>
        </p:spPr>
      </p:sp>
      <p:sp>
        <p:nvSpPr>
          <p:cNvPr id="20" name="Text 18"/>
          <p:cNvSpPr/>
          <p:nvPr/>
        </p:nvSpPr>
        <p:spPr>
          <a:xfrm>
            <a:off x="3429000" y="1700784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 + WAF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337560" y="2148840"/>
            <a:ext cx="2249424" cy="402336"/>
          </a:xfrm>
          <a:prstGeom prst="rect">
            <a:avLst/>
          </a:prstGeom>
          <a:solidFill>
            <a:srgbClr val="8C4FFF"/>
          </a:solidFill>
          <a:ln/>
        </p:spPr>
      </p:sp>
      <p:sp>
        <p:nvSpPr>
          <p:cNvPr id="22" name="Text 20"/>
          <p:cNvSpPr/>
          <p:nvPr/>
        </p:nvSpPr>
        <p:spPr>
          <a:xfrm>
            <a:off x="3429000" y="2176272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 — TLS 1.3 + Cognito auth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337560" y="2624328"/>
            <a:ext cx="2249424" cy="402336"/>
          </a:xfrm>
          <a:prstGeom prst="rect">
            <a:avLst/>
          </a:prstGeom>
          <a:solidFill>
            <a:srgbClr val="8C4FFF"/>
          </a:solidFill>
          <a:ln/>
        </p:spPr>
      </p:sp>
      <p:sp>
        <p:nvSpPr>
          <p:cNvPr id="24" name="Text 22"/>
          <p:cNvSpPr/>
          <p:nvPr/>
        </p:nvSpPr>
        <p:spPr>
          <a:xfrm>
            <a:off x="3429000" y="2651760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Cognito — SAML→JWT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897880" y="1307592"/>
            <a:ext cx="2788920" cy="1783080"/>
          </a:xfrm>
          <a:prstGeom prst="rect">
            <a:avLst/>
          </a:prstGeom>
          <a:ln w="12700">
            <a:solidFill>
              <a:srgbClr val="9AA7B4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6007608" y="1362456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SUBNET — AGENTCORE / FARGATE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007608" y="1673352"/>
            <a:ext cx="2569464" cy="402336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8" name="Text 26"/>
          <p:cNvSpPr/>
          <p:nvPr/>
        </p:nvSpPr>
        <p:spPr>
          <a:xfrm>
            <a:off x="6099048" y="1700784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worker + EventBridge</a:t>
            </a:r>
            <a:endParaRPr lang="en-US" sz="80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68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007608" y="2139696"/>
            <a:ext cx="2569464" cy="402336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0" name="Text 28"/>
          <p:cNvSpPr/>
          <p:nvPr/>
        </p:nvSpPr>
        <p:spPr>
          <a:xfrm>
            <a:off x="6099048" y="2167128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Completeness/query agent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007608" y="2606040"/>
            <a:ext cx="2569464" cy="402336"/>
          </a:xfrm>
          <a:prstGeom prst="rect">
            <a:avLst/>
          </a:prstGeom>
          <a:solidFill>
            <a:srgbClr val="E7157B"/>
          </a:solidFill>
          <a:ln/>
        </p:spPr>
      </p:sp>
      <p:sp>
        <p:nvSpPr>
          <p:cNvPr id="32" name="Text 30"/>
          <p:cNvSpPr/>
          <p:nvPr/>
        </p:nvSpPr>
        <p:spPr>
          <a:xfrm>
            <a:off x="6099048" y="2633472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auth gateway</a:t>
            </a:r>
            <a:endParaRPr lang="en-US" sz="80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68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outbound tool calls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8887968" y="1307592"/>
            <a:ext cx="2331720" cy="1783080"/>
          </a:xfrm>
          <a:prstGeom prst="rect">
            <a:avLst/>
          </a:prstGeom>
          <a:ln w="12700">
            <a:solidFill>
              <a:srgbClr val="9AA7B4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8997696" y="1362456"/>
            <a:ext cx="2112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LAYER — VPC ENDPOINT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997696" y="1691640"/>
            <a:ext cx="2112264" cy="566928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36" name="Text 34"/>
          <p:cNvSpPr/>
          <p:nvPr/>
        </p:nvSpPr>
        <p:spPr>
          <a:xfrm>
            <a:off x="9089136" y="1719072"/>
            <a:ext cx="1947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</a:t>
            </a:r>
            <a:endParaRPr lang="en-US" sz="90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5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(analysis + draft)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997696" y="2350008"/>
            <a:ext cx="2112264" cy="566928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38" name="Text 36"/>
          <p:cNvSpPr/>
          <p:nvPr/>
        </p:nvSpPr>
        <p:spPr>
          <a:xfrm>
            <a:off x="9089136" y="2377440"/>
            <a:ext cx="1947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Guardrails</a:t>
            </a:r>
            <a:endParaRPr lang="en-US" sz="90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 + content filters (mandatory)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227832" y="3246120"/>
            <a:ext cx="8220456" cy="1143000"/>
          </a:xfrm>
          <a:prstGeom prst="rect">
            <a:avLst/>
          </a:prstGeom>
          <a:ln w="12700">
            <a:solidFill>
              <a:srgbClr val="9AA7B4"/>
            </a:solidFill>
            <a:prstDash val="dash"/>
          </a:ln>
        </p:spPr>
      </p:sp>
      <p:sp>
        <p:nvSpPr>
          <p:cNvPr id="40" name="Text 38"/>
          <p:cNvSpPr/>
          <p:nvPr/>
        </p:nvSpPr>
        <p:spPr>
          <a:xfrm>
            <a:off x="3337560" y="3300984"/>
            <a:ext cx="8001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7AA1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TIER — KMS CMK-ENCRYPTED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337560" y="3630168"/>
            <a:ext cx="1876806" cy="621792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42" name="Text 40"/>
          <p:cNvSpPr/>
          <p:nvPr/>
        </p:nvSpPr>
        <p:spPr>
          <a:xfrm>
            <a:off x="3429000" y="3657600"/>
            <a:ext cx="17122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 / DynamoDB</a:t>
            </a:r>
            <a:endParaRPr lang="en-US" sz="8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+ TMF state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378958" y="3630168"/>
            <a:ext cx="1876806" cy="621792"/>
          </a:xfrm>
          <a:prstGeom prst="rect">
            <a:avLst/>
          </a:prstGeom>
          <a:solidFill>
            <a:srgbClr val="E7157B"/>
          </a:solidFill>
          <a:ln/>
        </p:spPr>
      </p:sp>
      <p:sp>
        <p:nvSpPr>
          <p:cNvPr id="44" name="Text 42"/>
          <p:cNvSpPr/>
          <p:nvPr/>
        </p:nvSpPr>
        <p:spPr>
          <a:xfrm>
            <a:off x="5470398" y="3657600"/>
            <a:ext cx="17122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 audit</a:t>
            </a:r>
            <a:endParaRPr lang="en-US" sz="8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7420356" y="3630168"/>
            <a:ext cx="1876806" cy="621792"/>
          </a:xfrm>
          <a:prstGeom prst="rect">
            <a:avLst/>
          </a:prstGeom>
          <a:solidFill>
            <a:srgbClr val="7AA116"/>
          </a:solidFill>
          <a:ln/>
        </p:spPr>
      </p:sp>
      <p:sp>
        <p:nvSpPr>
          <p:cNvPr id="46" name="Text 44"/>
          <p:cNvSpPr/>
          <p:nvPr/>
        </p:nvSpPr>
        <p:spPr>
          <a:xfrm>
            <a:off x="7511796" y="3657600"/>
            <a:ext cx="17122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Object Lock</a:t>
            </a:r>
            <a:endParaRPr lang="en-US" sz="8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WORM TMF records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9461754" y="3630168"/>
            <a:ext cx="1876806" cy="621792"/>
          </a:xfrm>
          <a:prstGeom prst="rect">
            <a:avLst/>
          </a:prstGeom>
          <a:solidFill>
            <a:srgbClr val="7AA116"/>
          </a:solidFill>
          <a:ln/>
        </p:spPr>
      </p:sp>
      <p:sp>
        <p:nvSpPr>
          <p:cNvPr id="48" name="Text 46"/>
          <p:cNvSpPr/>
          <p:nvPr/>
        </p:nvSpPr>
        <p:spPr>
          <a:xfrm>
            <a:off x="9553194" y="3657600"/>
            <a:ext cx="17122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Manager</a:t>
            </a:r>
            <a:endParaRPr lang="en-US" sz="8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tokens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227832" y="4544568"/>
            <a:ext cx="8220456" cy="713232"/>
          </a:xfrm>
          <a:prstGeom prst="rect">
            <a:avLst/>
          </a:prstGeom>
          <a:solidFill>
            <a:srgbClr val="1B2530"/>
          </a:solidFill>
          <a:ln/>
        </p:spPr>
      </p:sp>
      <p:sp>
        <p:nvSpPr>
          <p:cNvPr id="50" name="Text 48"/>
          <p:cNvSpPr/>
          <p:nvPr/>
        </p:nvSpPr>
        <p:spPr>
          <a:xfrm>
            <a:off x="3429000" y="4544568"/>
            <a:ext cx="78546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OPS:  </a:t>
            </a:r>
            <a:pPr algn="l" indent="0" marL="0">
              <a:buNone/>
            </a:pPr>
            <a:r>
              <a:rPr lang="en-US" sz="100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KMS CMK per data class  ·  IAM least privilege  ·  CloudWatch  ·  X-Ray  ·  CloudTrail  ·  Security Hub + Config (21 CFR Part 11 audit)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843784" y="1325880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843784" y="1325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2843784" y="2039112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843784" y="2039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5678424" y="2176272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678424" y="2176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2843784" y="2788920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843784" y="2788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7146036" y="3054096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146036" y="30540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8705088" y="1856232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705088" y="18562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11082528" y="3099816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1082528" y="30998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8321040" y="3054096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321040" y="30540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48640" y="571500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user sign-in   2 SAML federation (MFA at IdP; Cognito issues JWT)   3 authenticated session to trial-ops console   4 eTMF/EDC/CTMS reads over private connectivity   5 EventBridge schedules continuous completeness checks   6 model calls stay in-VPC via Bedrock + Guardrails   7 every gap, query, and disposition persisted to append-only audit   8 connectors reachable only through the governed MCP gateway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4747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Proof, Payback &amp; How to Deploy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13232" y="1234440"/>
            <a:ext cx="5285232" cy="3703320"/>
          </a:xfrm>
          <a:prstGeom prst="rect">
            <a:avLst/>
          </a:prstGeom>
          <a:solidFill>
            <a:srgbClr val="2E3B4E"/>
          </a:solidFill>
          <a:ln w="12700">
            <a:solidFill>
              <a:srgbClr val="3A48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435608"/>
            <a:ext cx="4736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00" kern="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OUTCOMES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1947672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~$800K/day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05840" y="2478024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cost the agent works to compress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05840" y="3008376"/>
            <a:ext cx="162214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[gov/peer-reviewed — Tufts]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465576" y="1947672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 vs 25%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465576" y="2478024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readiness, advanced-eTMF vs. manual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465576" y="3008376"/>
            <a:ext cx="162214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[industry-research — Veeva]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005840" y="315468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1M+ docs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005840" y="3685032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auto-classified by a TMF bot, “tens of thousands of hours”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05840" y="4215384"/>
            <a:ext cx="9985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[vendor — Veeva]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465576" y="315468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465576" y="3685032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 vs. periodic spot-checks today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65576" y="4215384"/>
            <a:ext cx="10552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[design property]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409944" y="1234440"/>
            <a:ext cx="5285232" cy="3703320"/>
          </a:xfrm>
          <a:prstGeom prst="rect">
            <a:avLst/>
          </a:prstGeom>
          <a:solidFill>
            <a:srgbClr val="2E3B4E"/>
          </a:solidFill>
          <a:ln w="12700">
            <a:solidFill>
              <a:srgbClr val="3A48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02552" y="1435608"/>
            <a:ext cx="4736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00" kern="0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TAKES TO DEPLOY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21424" y="1892808"/>
            <a:ext cx="455371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KMS CMK + per-customer validated VPC / network.</a:t>
            </a:r>
            <a:endParaRPr lang="en-US" sz="1050" dirty="0"/>
          </a:p>
          <a:p>
            <a:pPr algn="l" marL="342900" indent="-342900">
              <a:lnSpc>
                <a:spcPct val="10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Cognito SAML→JWT federation (CRA / CTA / TMF-owner roles).</a:t>
            </a:r>
            <a:endParaRPr lang="en-US" sz="1050" dirty="0"/>
          </a:p>
          <a:p>
            <a:pPr algn="l" marL="342900" indent="-342900">
              <a:lnSpc>
                <a:spcPct val="10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with CloudFront + WAF, ALB TLS 1.3.</a:t>
            </a:r>
            <a:endParaRPr lang="en-US" sz="1050" dirty="0"/>
          </a:p>
          <a:p>
            <a:pPr algn="l" marL="342900" indent="-342900">
              <a:lnSpc>
                <a:spcPct val="10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agent + grant tools via the MCP gateway (deny-by-default).</a:t>
            </a:r>
            <a:endParaRPr lang="en-US" sz="1050" dirty="0"/>
          </a:p>
          <a:p>
            <a:pPr algn="l" marL="342900" indent="-342900">
              <a:lnSpc>
                <a:spcPct val="10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Veeva eTMF + CTMS + EDC; load the TMF Reference Model.</a:t>
            </a:r>
            <a:endParaRPr lang="en-US" sz="1050" dirty="0"/>
          </a:p>
          <a:p>
            <a:pPr algn="l" marL="342900" indent="-342900">
              <a:lnSpc>
                <a:spcPct val="10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EventBridge for continuous checks; enable audit; run smoke + HITL test.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702552" y="4087368"/>
            <a:ext cx="4718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Deploy:  </a:t>
            </a:r>
            <a:pPr algn="l" indent="0" marL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CloudFormation quick-deploy provisions the isolated environment + dual MCP gateway + event-driven worker; point connectors at eTMF/EDC/CTMS.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702552" y="4572000"/>
            <a:ext cx="4736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aws-native-reference/03-clinical-trial-ops/DEPLOY.md  ·  docs/DEPLOY-QUICKSTART.md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13232" y="5230368"/>
            <a:ext cx="10771632" cy="841248"/>
          </a:xfrm>
          <a:prstGeom prst="rect">
            <a:avLst/>
          </a:prstGeom>
          <a:solidFill>
            <a:srgbClr val="1B2530"/>
          </a:solidFill>
          <a:ln w="12700">
            <a:solidFill>
              <a:srgbClr val="3A48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78992" y="5230368"/>
            <a:ext cx="10058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takeaway:  </a:t>
            </a:r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isn't the product — the governed platform that makes it 21 CFR Part 11 / GxP-defensible and deployable on AWS is.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32F3E"/>
      </a:dk2>
      <a:lt2>
        <a:srgbClr val="E7E6E6"/>
      </a:lt2>
      <a:accent1>
        <a:srgbClr val="FF9900"/>
      </a:accent1>
      <a:accent2>
        <a:srgbClr val="232F3E"/>
      </a:accent2>
      <a:accent3>
        <a:srgbClr val="01A88D"/>
      </a:accent3>
      <a:accent4>
        <a:srgbClr val="8C4FFF"/>
      </a:accent4>
      <a:accent5>
        <a:srgbClr val="DD344C"/>
      </a:accent5>
      <a:accent6>
        <a:srgbClr val="ED7100"/>
      </a:accent6>
      <a:hlink>
        <a:srgbClr val="0563C1"/>
      </a:hlink>
      <a:folHlink>
        <a:srgbClr val="954F72"/>
      </a:folHlink>
    </a:clrScheme>
    <a:fontScheme name="Office">
      <a:majorFont>
        <a:latin typeface="Amazon Ember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mazon Ember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HCLS Agent 03 — Clinical Trial Ops &amp; TMF</dc:title>
  <dc:subject>PptxGenJS Presentation</dc:subject>
  <dc:creator>HCLS AI Agent Suite</dc:creator>
  <cp:lastModifiedBy>HCLS AI Agent Suite</cp:lastModifiedBy>
  <cp:revision>1</cp:revision>
  <dcterms:created xsi:type="dcterms:W3CDTF">2026-06-25T22:00:54Z</dcterms:created>
  <dcterms:modified xsi:type="dcterms:W3CDTF">2026-06-25T22:00:54Z</dcterms:modified>
</cp:coreProperties>
</file>