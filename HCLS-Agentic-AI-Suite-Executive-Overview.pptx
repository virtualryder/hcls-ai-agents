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  ·  AWS-NATIVE  ·  GOVERNED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&amp; Life Sciences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Suite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bounded, regulator-aware agents for pharma, biotech, medtech &amp; CROs — with a governed platform, an MCP authorization gateway on Amazon Bedrock AgentCore, and one-click AWS deployment.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800600"/>
            <a:ext cx="292608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29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enablement for sales, solution architects &amp; delivery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copilots that summarize to agents that get work done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2057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not autonomous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monitor events, assemble evidence, plan, call approved tools, and draft regulated artifacts — humans make every medical, safety, quality and regulatory decision.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783080"/>
            <a:ext cx="82296" cy="2057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0116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have a framework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5146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&amp; EMA published joint good-AI principles (Jan 2026): define the model's context of use, apply credibility controls proportional to risk, keep humans accountable.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160520"/>
            <a:ext cx="82296" cy="2057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891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is ready for 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writing, pharmacovigilance, clinical ops, quality/CAPA, RWE and medical affairs are high-volume, evidence-driven, and human-gated — ideal first agents.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0" y="4160520"/>
            <a:ext cx="5440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4160520"/>
            <a:ext cx="82296" cy="2057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3891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want governed, not clever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4892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blocker to scaling agents in Life Sciences is trust: data residency, validation, auditability. Win there and the use cases follow.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Systems-Integrator Field Enablement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agents are not the product.</a:t>
            </a:r>
            <a:endParaRPr lang="en-US" sz="27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governed platform that makes them deployable is.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demo a clever agent. Shipping one into a regulated Life Sciences environment requires identity, authorization, audit, validation and human control — the platform layer below.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2697480" cy="201168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in docs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3291840"/>
            <a:ext cx="2697480" cy="201168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35661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93592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93592" y="4617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 local demo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1344" y="3291840"/>
            <a:ext cx="2697480" cy="201168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5664" y="35661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9944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9944" y="4617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AWS deploy (CFN/IaC)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97696" y="3291840"/>
            <a:ext cx="2697480" cy="201168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16" y="356616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2" name="Text 20"/>
          <p:cNvSpPr/>
          <p:nvPr/>
        </p:nvSpPr>
        <p:spPr>
          <a:xfrm>
            <a:off x="9272016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26296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26296" y="4617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Hardened, validated, integrated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accelerator ships at Demonstrated + Deployable-by-design — honest about what is real today.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Systems-Integrator Field Enablement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Life Sciences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Each: bounded workflow · governed tool access · human-in-the-loop · audit trail · AWS-native deploy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7432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274320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842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Writing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submission sections &amp; responses; grounding-checked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56432" y="1783080"/>
            <a:ext cx="27432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56432" y="1783080"/>
            <a:ext cx="274320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3685032" y="19842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85032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85032" y="30632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ICSR intake → MedDRA coding → seriousness → narrative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64224" y="1783080"/>
            <a:ext cx="27432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64224" y="1783080"/>
            <a:ext cx="274320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6592824" y="19842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92824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Ops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30632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completeness, data queries, study-health briefing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72016" y="1783080"/>
            <a:ext cx="27432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72016" y="1783080"/>
            <a:ext cx="274320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500616" y="19842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500616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Patient Matching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500616" y="30632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→ de-identified cohort → site ranking, equity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032504"/>
            <a:ext cx="27432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032504"/>
            <a:ext cx="274320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2336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77240" y="48554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/ CAPA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77240" y="531266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triage, root cause, CAPA drafting (QMSR)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56432" y="4032504"/>
            <a:ext cx="27432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56432" y="4032504"/>
            <a:ext cx="274320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3685032" y="42336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685032" y="48554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Design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3685032" y="531266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search, feasibility, protocol section drafting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64224" y="4032504"/>
            <a:ext cx="27432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64224" y="4032504"/>
            <a:ext cx="274320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7" name="Text 35"/>
          <p:cNvSpPr/>
          <p:nvPr/>
        </p:nvSpPr>
        <p:spPr>
          <a:xfrm>
            <a:off x="6592824" y="42336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592824" y="48554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RWE / HEOR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592824" y="531266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definition, evidence synthesis, data-quality flags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272016" y="4032504"/>
            <a:ext cx="27432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272016" y="4032504"/>
            <a:ext cx="274320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2" name="Text 40"/>
          <p:cNvSpPr/>
          <p:nvPr/>
        </p:nvSpPr>
        <p:spPr>
          <a:xfrm>
            <a:off x="9500616" y="42336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9500616" y="48554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Affairs / MSL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9500616" y="531266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Compliant, cited pre-call briefs; MLR submission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Systems-Integrator Field Enablement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every agent works — bounded autonomy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5564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9576" y="2176272"/>
            <a:ext cx="493776" cy="4937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1179576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7889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intake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340156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or request arrives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31136" y="25603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340864" y="1920240"/>
            <a:ext cx="175564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71800" y="2176272"/>
            <a:ext cx="493776" cy="4937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50592" y="27889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evidence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50592" y="340156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governed data from systems of record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23360" y="25603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133088" y="1920240"/>
            <a:ext cx="175564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64024" y="2176272"/>
            <a:ext cx="493776" cy="4937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764024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42816" y="27889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&amp; draft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242816" y="340156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drafts the regulated artifact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15584" y="25603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925312" y="1920240"/>
            <a:ext cx="175564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56248" y="2176272"/>
            <a:ext cx="493776" cy="4937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6556248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5040" y="27889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035040" y="340156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+ compliance gates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07808" y="25603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717536" y="1920240"/>
            <a:ext cx="1755648" cy="2103120"/>
          </a:xfrm>
          <a:prstGeom prst="rect">
            <a:avLst/>
          </a:prstGeom>
          <a:solidFill>
            <a:srgbClr val="16294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48472" y="2176272"/>
            <a:ext cx="493776" cy="49377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30" name="Text 28"/>
          <p:cNvSpPr/>
          <p:nvPr/>
        </p:nvSpPr>
        <p:spPr>
          <a:xfrm>
            <a:off x="8348472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27264" y="27889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827264" y="340156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human approves (HITL)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400032" y="25603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9509760" y="1920240"/>
            <a:ext cx="175564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140696" y="2176272"/>
            <a:ext cx="493776" cy="4937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6" name="Text 34"/>
          <p:cNvSpPr/>
          <p:nvPr/>
        </p:nvSpPr>
        <p:spPr>
          <a:xfrm>
            <a:off x="10140696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19488" y="27889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+ audit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619488" y="3401568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Reversible, authorized, fully logged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4526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earned, not assumed: agents start at search &amp; summarize and graduate to reversible, low-risk actions only after evidence. They never make the final medical, safety, quality or regulatory decision.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Systems-Integrator Field Enablement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layers that make agents governable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13232"/>
          </a:xfrm>
          <a:prstGeom prst="rect">
            <a:avLst/>
          </a:prstGeom>
          <a:solidFill>
            <a:srgbClr val="16294B"/>
          </a:solidFill>
          <a:ln w="12700">
            <a:solidFill>
              <a:srgbClr val="2444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46504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1600200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apps people already use — RIM, safety DB, QMS, CRM, Teams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68296"/>
            <a:ext cx="11064240" cy="713232"/>
          </a:xfrm>
          <a:prstGeom prst="rect">
            <a:avLst/>
          </a:prstGeom>
          <a:solidFill>
            <a:srgbClr val="16294B"/>
          </a:solidFill>
          <a:ln w="12700">
            <a:solidFill>
              <a:srgbClr val="2444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514600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36829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+ specialist agents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2368296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work; specialist agents per task; orchestrate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11064240" cy="713232"/>
          </a:xfrm>
          <a:prstGeom prst="rect">
            <a:avLst/>
          </a:prstGeom>
          <a:solidFill>
            <a:srgbClr val="0E7C8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82696"/>
            <a:ext cx="420624" cy="42062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82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13639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&amp; integration layer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136392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authorization gateway — governed front door to every system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04488"/>
            <a:ext cx="11064240" cy="713232"/>
          </a:xfrm>
          <a:prstGeom prst="rect">
            <a:avLst/>
          </a:prstGeom>
          <a:solidFill>
            <a:srgbClr val="16294B"/>
          </a:solidFill>
          <a:ln w="12700">
            <a:solidFill>
              <a:srgbClr val="2444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50792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90448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semantic layer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3904488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lake, vector search, ontologies (MedDRA/WHODrug), lineage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672584"/>
            <a:ext cx="11064240" cy="713232"/>
          </a:xfrm>
          <a:prstGeom prst="rect">
            <a:avLst/>
          </a:prstGeom>
          <a:solidFill>
            <a:srgbClr val="16294B"/>
          </a:solidFill>
          <a:ln w="12700">
            <a:solidFill>
              <a:srgbClr val="2444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81888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467258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deterministic services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0" y="4672584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drafting; validated stats/rules engines for calculation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11064240" cy="713232"/>
          </a:xfrm>
          <a:prstGeom prst="rect">
            <a:avLst/>
          </a:prstGeom>
          <a:solidFill>
            <a:srgbClr val="16294B"/>
          </a:solidFill>
          <a:ln w="12700">
            <a:solidFill>
              <a:srgbClr val="2444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586984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586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17320" y="544068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observability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0" y="5440680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Versioning, audit, grounding, HITL, evals, kill-switch, monitoring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Systems-Integrator Field Enablement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CENTERPIECE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MCP authorization gateway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Amazon Bedrock AgentCore Gateway + AgentCore Identity. No agent touches a system of record directly.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82296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Authenticate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963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IdP claims; deny on missing identity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874520"/>
            <a:ext cx="82296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57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Authorize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4963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Deny-by-default; agent grant ∩ user entitlement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87452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874520"/>
            <a:ext cx="82296" cy="141732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057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Human approval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249631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any write / irreversible tool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520440"/>
            <a:ext cx="82296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03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Scoped token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1422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Short-lived, single-tool; no standing credentials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43400" y="352044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3520440"/>
            <a:ext cx="82296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3703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Invoke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41422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validated connector to the system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38160" y="352044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8160" y="3520440"/>
            <a:ext cx="82296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3703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Audit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0" y="41422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PHI-masked, tamper-evident, with lineage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 never exceed the human it acts for.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is enforced as an intersection — the same semantics in the Python reference and in AgentCore.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Systems-Integrator Field Enablement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FROM DAY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evaluation, not bolted 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2082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293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&amp; entity in a regulated artifact must trace to source — catches hallucinated dose, endpoint, institution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202082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9293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registry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17720" y="23500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hash-pinned &amp; version-controlled; CI fails on un-reviewed drift (model-risk discipline)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94192" y="202082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92938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12480" y="23500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+ grounding checks over golden artifacts run in CI — a prompt change can't silently degrade output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66674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57530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" y="39959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actions are framework-enforced to require a verified human approval, not just documented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42900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9432" y="366674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57530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17720" y="39959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instructions can't change authorization; grounding catches smuggled facts; PHI masking blocks exfiltration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42900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94192" y="366674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357530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412480" y="39959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demographic under-representation in proposed cohorts (FDA Diversity Action Plan posture)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Systems-Integrator Field Enablement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STAKEHOLDERS TRUST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control envelope, many regulations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141732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/ GDPR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942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masking · in-account inference · de-identification · data residency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611880" cy="141732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224942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trail · e-signature linkage at HITL gates · record integrity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611880" cy="141732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(GCP/GLP/GMP)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224942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ALCOA+ data integrity · CSV-ready · prompt &amp; model version control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3611880" cy="141732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747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GVP / ICH E2B(R3)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89534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ICSR completeness checks · expedited-reporting logic · safety audit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291840"/>
            <a:ext cx="3611880" cy="141732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4747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QMSR (Feb 2026)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17720" y="389534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traceability · complaint handling · ISO 13485 alignment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3291840"/>
            <a:ext cx="3611880" cy="141732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34747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389534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context of use · logging · human oversight · risk classification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comes from the whole system — technology, configuration, validation, procedure and evidence — not from any single service.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Systems-Integrator Field Enablement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Quick-deploy, customer-isolated, in-account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4114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to AWS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7263F"/>
                </a:solidFill>
              </a:rPr>
              <a:t>Container lift — AgentCore Runtime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82"/>
                </a:solidFill>
              </a:rPr>
              <a:t>Wrap the LangGraph agent in the AgentCore contract (/invocations, /ping, ARM64). Fastest; code unchanged.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7263F"/>
                </a:solidFill>
              </a:rPr>
              <a:t>Native rebuild — Strands + Step Functions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82"/>
                </a:solidFill>
              </a:rPr>
              <a:t>Deterministic core in Lambdas, Bedrock drafting, waitForTaskToken human gate. Highest managed fidelity.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7263F"/>
                </a:solidFill>
              </a:rPr>
              <a:t>Quick deploy — CloudFormation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82"/>
                </a:solidFill>
              </a:rPr>
              <a:t>Nested stacks: VPC, KMS + Guardrail, append-only audit, WORM store, AgentCore Gateway. Terraform parity included.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1993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Customer-isolated data architecture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29400" y="2432304"/>
            <a:ext cx="4754880" cy="347472"/>
          </a:xfrm>
          <a:prstGeom prst="rect">
            <a:avLst/>
          </a:prstGeom>
          <a:solidFill>
            <a:srgbClr val="E8F3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432304"/>
            <a:ext cx="64008" cy="3474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4323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  →  ALB (Cognito/Okta)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29400" y="2843784"/>
            <a:ext cx="4754880" cy="347472"/>
          </a:xfrm>
          <a:prstGeom prst="rect">
            <a:avLst/>
          </a:prstGeom>
          <a:solidFill>
            <a:srgbClr val="E8F3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2843784"/>
            <a:ext cx="64008" cy="3474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8437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— UI + agent worker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29400" y="3255264"/>
            <a:ext cx="4754880" cy="347472"/>
          </a:xfrm>
          <a:prstGeom prst="rect">
            <a:avLst/>
          </a:prstGeom>
          <a:solidFill>
            <a:srgbClr val="E8F3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3255264"/>
            <a:ext cx="64008" cy="3474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32552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 Gateway + Identity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9400" y="3666744"/>
            <a:ext cx="4754880" cy="347472"/>
          </a:xfrm>
          <a:prstGeom prst="rect">
            <a:avLst/>
          </a:prstGeom>
          <a:solidFill>
            <a:srgbClr val="E8F3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666744"/>
            <a:ext cx="64008" cy="3474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36667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Guardrails (in-account inference)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29400" y="4078224"/>
            <a:ext cx="475488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4078224"/>
            <a:ext cx="64008" cy="3474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40782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PostgreSQL — workflow state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29400" y="4489704"/>
            <a:ext cx="475488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9400" y="4489704"/>
            <a:ext cx="64008" cy="3474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44897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— append-only audit (Part 11)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629400" y="4901184"/>
            <a:ext cx="475488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4901184"/>
            <a:ext cx="64008" cy="3474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49011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— WORM regulated artifacts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29400" y="5312664"/>
            <a:ext cx="475488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9400" y="5312664"/>
            <a:ext cx="64008" cy="3474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53126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· Secrets Manager · CloudWatch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Systems-Integrator Field Enablement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CUSTOMER-READY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Pharmacovigilance, live on Bedrock + a real connector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wired end-to-end: live Amazon Bedrock inference and a real HTTP safety-system connector — swap one URL from the local reference service to the customer's Argus / Veeva Safety gateway.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212848" cy="2286000"/>
          </a:xfrm>
          <a:prstGeom prst="rect">
            <a:avLst/>
          </a:prstGeom>
          <a:solidFill>
            <a:srgbClr val="16294B"/>
          </a:solidFill>
          <a:ln w="12700">
            <a:solidFill>
              <a:srgbClr val="2444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8176" y="2715768"/>
            <a:ext cx="493776" cy="4937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408176" y="2715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33756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source pulled via the live HTTP connector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07208" y="2468880"/>
            <a:ext cx="2212848" cy="2286000"/>
          </a:xfrm>
          <a:prstGeom prst="rect">
            <a:avLst/>
          </a:prstGeom>
          <a:solidFill>
            <a:srgbClr val="16294B"/>
          </a:solidFill>
          <a:ln w="12700">
            <a:solidFill>
              <a:srgbClr val="2444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6744" y="2715768"/>
            <a:ext cx="493776" cy="4937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3666744" y="2715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16936" y="333756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assess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44368" y="374904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MedDRA / WHODrug coding · seriousness · 15-day clock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65776" y="2468880"/>
            <a:ext cx="2212848" cy="2286000"/>
          </a:xfrm>
          <a:prstGeom prst="rect">
            <a:avLst/>
          </a:prstGeom>
          <a:solidFill>
            <a:srgbClr val="16294B"/>
          </a:solidFill>
          <a:ln w="12700">
            <a:solidFill>
              <a:srgbClr val="2444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25312" y="2715768"/>
            <a:ext cx="493776" cy="4937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5925312" y="2715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75504" y="333756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 Bedrock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02936" y="374904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ICSR narrative generated in-account, grounding-checked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24344" y="2468880"/>
            <a:ext cx="2212848" cy="2286000"/>
          </a:xfrm>
          <a:prstGeom prst="rect">
            <a:avLst/>
          </a:prstGeom>
          <a:solidFill>
            <a:srgbClr val="0E7C86"/>
          </a:solidFill>
          <a:ln w="12700">
            <a:solidFill>
              <a:srgbClr val="2444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3880" y="2715768"/>
            <a:ext cx="493776" cy="49377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2715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34072" y="333756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61504" y="374904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physician approves causality &amp; seriousness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82912" y="2468880"/>
            <a:ext cx="2212848" cy="2286000"/>
          </a:xfrm>
          <a:prstGeom prst="rect">
            <a:avLst/>
          </a:prstGeom>
          <a:solidFill>
            <a:srgbClr val="16294B"/>
          </a:solidFill>
          <a:ln w="12700">
            <a:solidFill>
              <a:srgbClr val="2444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42448" y="2715768"/>
            <a:ext cx="493776" cy="49377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10442448" y="2715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92640" y="333756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20072" y="374904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Gateway-authorized, scoped-token submission — fully audited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today with no API key in demo mode; flip env vars for live Bedrock + live connector.  python demo/demo_live.py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Systems-Integrator Field Enablement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value lands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82296" cy="1874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96112" y="30632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first draft of a benefit-risk summary (Agent 01)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828800"/>
            <a:ext cx="82296" cy="18745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1031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 hrs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748272" y="30632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ICSR case vs. manual processing (Agent 02)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977640"/>
            <a:ext cx="82296" cy="1874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6112" y="5212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regulatory-intelligence &amp; TMF monitoring vs. periodic, manual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0" y="397764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3977640"/>
            <a:ext cx="82296" cy="18745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251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Pre-review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748272" y="5212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&amp; compliance defects caught before a human reads the draft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Illustrative; the assessment instruments the customer's own baselines so the business case is their data, not a generic slide.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Systems-Integrator Field Enablement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staged path from proof to production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2697480" cy="64008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751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9808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3108960"/>
            <a:ext cx="2313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Context-of-use &amp; risk, target workflow, control map, business case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27832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64992" y="192024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64992" y="1920240"/>
            <a:ext cx="2697480" cy="64008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9751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56616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108960"/>
            <a:ext cx="2313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fixture connectors, governance evidence, demo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44184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81344" y="192024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1920240"/>
            <a:ext cx="2697480" cy="6400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19751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82512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12–20 WKS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82512" y="3108960"/>
            <a:ext cx="2313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Bedrock + connector + IdP, CSV package, go-to-prod gate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860536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97696" y="192024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97696" y="1920240"/>
            <a:ext cx="2697480" cy="64008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24" name="Text 22"/>
          <p:cNvSpPr/>
          <p:nvPr/>
        </p:nvSpPr>
        <p:spPr>
          <a:xfrm>
            <a:off x="9180576" y="19751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198864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98864" y="3108960"/>
            <a:ext cx="2313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monitor, govern, expand to more agents under SLA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objection-handling, competitive positioning, ROI model, TPRM due-diligence packet, and stakeholder security briefings for CISO, CMO, Regulatory, PV, Quality, Privacy &amp; Procurement.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Systems-Integrator Field Enablement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THIS, WHY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over point tools; partner over DIY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38328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building it yourselves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teams underestimate identity, authorization, audit, validation and eval — the 80% that isn't the agent. We ship that as a reusable platform.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611880" cy="338328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737360"/>
            <a:ext cx="361188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057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vendor-embedded 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063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Veeva/Argus/Medidata add AI inside their walls. This suite spans systems with one governed gateway, one audit standard, one control model.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611880" cy="3383280"/>
          </a:xfrm>
          <a:prstGeom prst="rect">
            <a:avLst/>
          </a:prstGeom>
          <a:solidFill>
            <a:srgbClr val="16294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737360"/>
            <a:ext cx="361188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057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general-purpose platforms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30632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copilots aren't built for GxP, Part 11, GVP or QMSR. This is Life-Sciences-native, with the regulatory controls in the architecture.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Systems-Integrator Field Enablement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working, tested accelerator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82296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8483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41248" y="2907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+ 8 AWS-native rebuilds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64992" y="18288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64992" y="1828800"/>
            <a:ext cx="82296" cy="17373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208483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480+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657600" y="2907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across the suite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828800"/>
            <a:ext cx="82296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455664" y="208483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473952" y="2907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gateway = AgentCore Gateway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97696" y="18288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E1B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97696" y="1828800"/>
            <a:ext cx="82296" cy="17373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9272016" y="2084832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CFN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290304" y="2907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quick-deploy + Terraform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runs offline with no API key (demo mode), flips to live Bedrock + live connectors by config, and ships with code, tests, governance evidence, runbooks and GTM material.  </a:t>
            </a:r>
            <a:pPr indent="0" marL="0">
              <a:lnSpc>
                <a:spcPts val="2200"/>
              </a:lnSpc>
              <a:buNone/>
            </a:pPr>
            <a:r>
              <a:rPr lang="en-US" sz="14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Production-readiness — hardening, full validation, customer integration — is the engagement.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Systems-Integrator Field Enablement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75720" y="6437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PICK THE FIRST WORKFLOW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one measurable workflow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Pick a bounded, high-volume workflow (regulatory writing, PV intake, TMF, CAPA).</a:t>
            </a:r>
            <a:endParaRPr lang="en-US" sz="155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Run the assessment — context of use, risk, control map, the customer's own ROI baseline.</a:t>
            </a:r>
            <a:endParaRPr lang="en-US" sz="155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Stand up the demo on AWS; prove governance and human control end-to-end.</a:t>
            </a:r>
            <a:endParaRPr lang="en-US" sz="155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Scale by reusing the platform — identity, gateway, audit, evals — across agents.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Agentic AI Suite  ·  governed, AWS-native, deployable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Agentic AI Suite — Field Enablement</dc:title>
  <dc:subject>PptxGenJS Presentation</dc:subject>
  <dc:creator>Life Sciences GTM Accelerator</dc:creator>
  <cp:lastModifiedBy>Life Sciences GTM Accelerator</cp:lastModifiedBy>
  <cp:revision>1</cp:revision>
  <dcterms:created xsi:type="dcterms:W3CDTF">2026-06-17T16:33:54Z</dcterms:created>
  <dcterms:modified xsi:type="dcterms:W3CDTF">2026-06-17T16:33:54Z</dcterms:modified>
</cp:coreProperties>
</file>